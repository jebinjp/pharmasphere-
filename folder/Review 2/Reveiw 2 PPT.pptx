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74" r:id="rId12"/>
    <p:sldId id="275" r:id="rId13"/>
    <p:sldId id="276" r:id="rId14"/>
    <p:sldId id="277" r:id="rId15"/>
    <p:sldId id="278" r:id="rId16"/>
    <p:sldId id="279" r:id="rId17"/>
    <p:sldId id="280" r:id="rId18"/>
    <p:sldId id="281" r:id="rId19"/>
    <p:sldId id="282" r:id="rId20"/>
    <p:sldId id="266" r:id="rId21"/>
    <p:sldId id="267" r:id="rId22"/>
    <p:sldId id="268" r:id="rId23"/>
    <p:sldId id="269" r:id="rId24"/>
    <p:sldId id="270" r:id="rId25"/>
    <p:sldId id="271" r:id="rId26"/>
    <p:sldId id="272" r:id="rId27"/>
    <p:sldId id="273" r:id="rId28"/>
    <p:sldId id="283"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2E5A9C-B730-4783-9034-6C2A9ECA91D1}">
  <a:tblStyle styleId="{0B2E5A9C-B730-4783-9034-6C2A9ECA91D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218EEE0-5D37-4C49-A4E7-7812C484D504}"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917" y="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978348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b42ef1ca6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b42ef1ca6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b42ef1ca6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b42ef1ca6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b42ef1ca6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b42ef1ca6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b42ef1ca6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b42ef1ca6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b42ef1ca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b42ef1ca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b42ef1ca68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b42ef1ca6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b42ef1ca6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b42ef1ca6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b42ef1ca68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b42ef1ca68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b42ef1ca6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b42ef1ca6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b42ef1ca68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b42ef1ca68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b42ef1ca68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b42ef1ca68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b42ef1ca68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b42ef1ca68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b42ef1ca6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b42ef1ca6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b42ef1ca68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b42ef1ca68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b42ef1ca68_0_1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b42ef1ca68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b42ef1ca68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b42ef1ca68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61BB0336-DEB6-C64B-5CAE-1DCD94BDEB57}"/>
            </a:ext>
          </a:extLst>
        </p:cNvPr>
        <p:cNvGrpSpPr/>
        <p:nvPr/>
      </p:nvGrpSpPr>
      <p:grpSpPr>
        <a:xfrm>
          <a:off x="0" y="0"/>
          <a:ext cx="0" cy="0"/>
          <a:chOff x="0" y="0"/>
          <a:chExt cx="0" cy="0"/>
        </a:xfrm>
      </p:grpSpPr>
      <p:sp>
        <p:nvSpPr>
          <p:cNvPr id="155" name="Google Shape;155;g3b42ef1ca68_0_35:notes">
            <a:extLst>
              <a:ext uri="{FF2B5EF4-FFF2-40B4-BE49-F238E27FC236}">
                <a16:creationId xmlns:a16="http://schemas.microsoft.com/office/drawing/2014/main" id="{DB04D4B5-B7C1-E5A4-E040-0C30956908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b42ef1ca68_0_35:notes">
            <a:extLst>
              <a:ext uri="{FF2B5EF4-FFF2-40B4-BE49-F238E27FC236}">
                <a16:creationId xmlns:a16="http://schemas.microsoft.com/office/drawing/2014/main" id="{A002DA06-4391-A8D9-06C4-4683B81946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07001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7BEE8F76-AA32-7666-4343-8C7C5729D2A0}"/>
            </a:ext>
          </a:extLst>
        </p:cNvPr>
        <p:cNvGrpSpPr/>
        <p:nvPr/>
      </p:nvGrpSpPr>
      <p:grpSpPr>
        <a:xfrm>
          <a:off x="0" y="0"/>
          <a:ext cx="0" cy="0"/>
          <a:chOff x="0" y="0"/>
          <a:chExt cx="0" cy="0"/>
        </a:xfrm>
      </p:grpSpPr>
      <p:sp>
        <p:nvSpPr>
          <p:cNvPr id="155" name="Google Shape;155;g3b42ef1ca68_0_35:notes">
            <a:extLst>
              <a:ext uri="{FF2B5EF4-FFF2-40B4-BE49-F238E27FC236}">
                <a16:creationId xmlns:a16="http://schemas.microsoft.com/office/drawing/2014/main" id="{40FB4B02-3C06-523F-B75F-A5FF1EBED6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b42ef1ca68_0_35:notes">
            <a:extLst>
              <a:ext uri="{FF2B5EF4-FFF2-40B4-BE49-F238E27FC236}">
                <a16:creationId xmlns:a16="http://schemas.microsoft.com/office/drawing/2014/main" id="{3D4007C6-8FF9-0DDC-D990-534A9128F7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9617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0" y="1757829"/>
            <a:ext cx="8520600" cy="2052600"/>
          </a:xfrm>
          <a:prstGeom prst="rect">
            <a:avLst/>
          </a:prstGeom>
        </p:spPr>
        <p:txBody>
          <a:bodyPr spcFirstLastPara="1" wrap="square" lIns="91425" tIns="91425" rIns="91425" bIns="91425" anchor="b" anchorCtr="0">
            <a:normAutofit fontScale="90000"/>
          </a:bodyPr>
          <a:lstStyle/>
          <a:p>
            <a:r>
              <a:rPr lang="en-US" sz="2700" cap="small" dirty="0"/>
              <a:t>A Cognitive Vision-Enabled Pharmaceutical Intelligence Framework for Multimodal Prescription Analysis</a:t>
            </a:r>
            <a:br>
              <a:rPr lang="en-IN" dirty="0"/>
            </a:br>
            <a:br>
              <a:rPr lang="en-GB" i="1" dirty="0"/>
            </a:br>
            <a:endParaRPr sz="2700" dirty="0">
              <a:latin typeface="Times New Roman"/>
              <a:ea typeface="Times New Roman"/>
              <a:cs typeface="Times New Roman"/>
              <a:sym typeface="Times New Roman"/>
            </a:endParaRPr>
          </a:p>
        </p:txBody>
      </p:sp>
      <p:pic>
        <p:nvPicPr>
          <p:cNvPr id="2" name="Google Shape;152;p29">
            <a:extLst>
              <a:ext uri="{FF2B5EF4-FFF2-40B4-BE49-F238E27FC236}">
                <a16:creationId xmlns:a16="http://schemas.microsoft.com/office/drawing/2014/main" id="{439FB8ED-CDFB-0B5E-A7BF-A925C0AA365D}"/>
              </a:ext>
            </a:extLst>
          </p:cNvPr>
          <p:cNvPicPr preferRelativeResize="0"/>
          <p:nvPr/>
        </p:nvPicPr>
        <p:blipFill rotWithShape="1">
          <a:blip r:embed="rId3">
            <a:alphaModFix/>
          </a:blip>
          <a:srcRect/>
          <a:stretch/>
        </p:blipFill>
        <p:spPr>
          <a:xfrm>
            <a:off x="7043738" y="142875"/>
            <a:ext cx="1914525" cy="1057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1. INTRODUCTION</a:t>
            </a:r>
            <a:endParaRPr dirty="0"/>
          </a:p>
        </p:txBody>
      </p:sp>
      <p:sp>
        <p:nvSpPr>
          <p:cNvPr id="66" name="Google Shape;66;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r>
              <a:rPr lang="en-US" dirty="0"/>
              <a:t>Pharmacies traditionally rely on manual prescription processing and inventory tracking, which can lead to errors, delays, and inefficiencies. With increasing prescription volumes and growing demand for faster healthcare services, intelligent digital solutions are required to improve pharmacy operations.</a:t>
            </a:r>
          </a:p>
          <a:p>
            <a:r>
              <a:rPr lang="en-US" dirty="0"/>
              <a:t>This project proposes a </a:t>
            </a:r>
            <a:r>
              <a:rPr lang="en-US" b="1" dirty="0"/>
              <a:t>Digital Pharmacy Management System</a:t>
            </a:r>
            <a:r>
              <a:rPr lang="en-US" dirty="0"/>
              <a:t> that integrates OCR-based prescription analysis, real-time inventory monitoring, machine learning demand forecasting, and an AI chatbot. The system aims to reduce manual errors, improve stock management, and enhance pharmacy service efficiency.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2. MOTIVATION</a:t>
            </a:r>
            <a:endParaRPr dirty="0"/>
          </a:p>
        </p:txBody>
      </p:sp>
      <p:sp>
        <p:nvSpPr>
          <p:cNvPr id="72" name="Google Shape;7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dirty="0"/>
              <a:t>• Manual prescription handling often leads to reading errors and incorrect medicine dispensing.</a:t>
            </a:r>
            <a:br>
              <a:rPr lang="en-US" dirty="0"/>
            </a:br>
            <a:r>
              <a:rPr lang="en-US" dirty="0"/>
              <a:t>• Traditional inventory systems fail to track real-time stock levels and expiry dates accurately.</a:t>
            </a:r>
            <a:br>
              <a:rPr lang="en-US" dirty="0"/>
            </a:br>
            <a:r>
              <a:rPr lang="en-US" dirty="0"/>
              <a:t>• Growing customer demand increases workload and pressure on pharmacists.</a:t>
            </a:r>
            <a:br>
              <a:rPr lang="en-US" dirty="0"/>
            </a:br>
            <a:r>
              <a:rPr lang="en-US" dirty="0"/>
              <a:t>• Lack of forecasting causes medicine shortages or excess wastage.</a:t>
            </a:r>
            <a:br>
              <a:rPr lang="en-US" dirty="0"/>
            </a:br>
            <a:r>
              <a:rPr lang="en-US" dirty="0"/>
              <a:t>• Absence of digital assistance reduces operational efficiency and service quality.</a:t>
            </a:r>
            <a:br>
              <a:rPr lang="en-US" dirty="0"/>
            </a:br>
            <a:r>
              <a:rPr lang="en-US" dirty="0"/>
              <a:t>• Intelligent automation can improve accuracy, speed, and reliability in pharmacy operations.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CONCERNS IDENTIFIED FROM BASE PAPERS</a:t>
            </a:r>
            <a:endParaRPr/>
          </a:p>
        </p:txBody>
      </p:sp>
      <p:sp>
        <p:nvSpPr>
          <p:cNvPr id="78" name="Google Shape;78;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buClr>
                <a:schemeClr val="dk1"/>
              </a:buClr>
              <a:buSzPct val="61111"/>
              <a:buNone/>
            </a:pPr>
            <a:r>
              <a:rPr lang="en-US" dirty="0"/>
              <a:t>• Most existing pharmacy systems are rule-based and lack intelligent, adaptive decision-making.</a:t>
            </a:r>
            <a:br>
              <a:rPr lang="en-US" dirty="0"/>
            </a:br>
            <a:r>
              <a:rPr lang="en-US" dirty="0"/>
              <a:t>• Limited integration of OCR with real-time inventory and dispensing workflows.</a:t>
            </a:r>
            <a:br>
              <a:rPr lang="en-US" dirty="0"/>
            </a:br>
            <a:r>
              <a:rPr lang="en-US" dirty="0"/>
              <a:t>• Absence of machine learning–based demand forecasting in many proposed systems.</a:t>
            </a:r>
            <a:br>
              <a:rPr lang="en-US" dirty="0"/>
            </a:br>
            <a:r>
              <a:rPr lang="en-US" dirty="0"/>
              <a:t>• Lack of pharmacy-specific </a:t>
            </a:r>
            <a:r>
              <a:rPr lang="en-US" dirty="0" err="1"/>
              <a:t>chatbot</a:t>
            </a:r>
            <a:r>
              <a:rPr lang="en-US" dirty="0"/>
              <a:t> support for customer interaction and guidance.</a:t>
            </a:r>
            <a:br>
              <a:rPr lang="en-US" dirty="0"/>
            </a:br>
            <a:r>
              <a:rPr lang="en-US" dirty="0"/>
              <a:t>• Scalability issues when handling multi-branch or high-volume pharmacy operations.</a:t>
            </a:r>
            <a:br>
              <a:rPr lang="en-US" dirty="0"/>
            </a:br>
            <a:r>
              <a:rPr lang="en-US" dirty="0"/>
              <a:t>• Insufficient focus on data security, privacy, and regulatory compliance in academic solutions.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202375" y="521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LITERATURE REVIEW</a:t>
            </a:r>
            <a:endParaRPr/>
          </a:p>
        </p:txBody>
      </p:sp>
      <p:graphicFrame>
        <p:nvGraphicFramePr>
          <p:cNvPr id="2" name="Table 1"/>
          <p:cNvGraphicFramePr>
            <a:graphicFrameLocks noGrp="1"/>
          </p:cNvGraphicFramePr>
          <p:nvPr>
            <p:extLst>
              <p:ext uri="{D42A27DB-BD31-4B8C-83A1-F6EECF244321}">
                <p14:modId xmlns:p14="http://schemas.microsoft.com/office/powerpoint/2010/main" val="3027999112"/>
              </p:ext>
            </p:extLst>
          </p:nvPr>
        </p:nvGraphicFramePr>
        <p:xfrm>
          <a:off x="616687" y="765545"/>
          <a:ext cx="7940903" cy="4243778"/>
        </p:xfrm>
        <a:graphic>
          <a:graphicData uri="http://schemas.openxmlformats.org/drawingml/2006/table">
            <a:tbl>
              <a:tblPr firstRow="1">
                <a:tableStyleId>{1E171933-4619-4E11-9A3F-F7608DF75F80}</a:tableStyleId>
              </a:tblPr>
              <a:tblGrid>
                <a:gridCol w="733002">
                  <a:extLst>
                    <a:ext uri="{9D8B030D-6E8A-4147-A177-3AD203B41FA5}">
                      <a16:colId xmlns:a16="http://schemas.microsoft.com/office/drawing/2014/main" val="20000"/>
                    </a:ext>
                  </a:extLst>
                </a:gridCol>
                <a:gridCol w="1221679">
                  <a:extLst>
                    <a:ext uri="{9D8B030D-6E8A-4147-A177-3AD203B41FA5}">
                      <a16:colId xmlns:a16="http://schemas.microsoft.com/office/drawing/2014/main" val="20001"/>
                    </a:ext>
                  </a:extLst>
                </a:gridCol>
                <a:gridCol w="1783650">
                  <a:extLst>
                    <a:ext uri="{9D8B030D-6E8A-4147-A177-3AD203B41FA5}">
                      <a16:colId xmlns:a16="http://schemas.microsoft.com/office/drawing/2014/main" val="20002"/>
                    </a:ext>
                  </a:extLst>
                </a:gridCol>
                <a:gridCol w="799327">
                  <a:extLst>
                    <a:ext uri="{9D8B030D-6E8A-4147-A177-3AD203B41FA5}">
                      <a16:colId xmlns:a16="http://schemas.microsoft.com/office/drawing/2014/main" val="20003"/>
                    </a:ext>
                  </a:extLst>
                </a:gridCol>
                <a:gridCol w="1134415">
                  <a:extLst>
                    <a:ext uri="{9D8B030D-6E8A-4147-A177-3AD203B41FA5}">
                      <a16:colId xmlns:a16="http://schemas.microsoft.com/office/drawing/2014/main" val="20004"/>
                    </a:ext>
                  </a:extLst>
                </a:gridCol>
                <a:gridCol w="1134415">
                  <a:extLst>
                    <a:ext uri="{9D8B030D-6E8A-4147-A177-3AD203B41FA5}">
                      <a16:colId xmlns:a16="http://schemas.microsoft.com/office/drawing/2014/main" val="20005"/>
                    </a:ext>
                  </a:extLst>
                </a:gridCol>
                <a:gridCol w="1134415">
                  <a:extLst>
                    <a:ext uri="{9D8B030D-6E8A-4147-A177-3AD203B41FA5}">
                      <a16:colId xmlns:a16="http://schemas.microsoft.com/office/drawing/2014/main" val="20006"/>
                    </a:ext>
                  </a:extLst>
                </a:gridCol>
              </a:tblGrid>
              <a:tr h="210433">
                <a:tc>
                  <a:txBody>
                    <a:bodyPr/>
                    <a:lstStyle/>
                    <a:p>
                      <a:r>
                        <a:rPr lang="en-US" sz="1050" dirty="0"/>
                        <a:t>S. No</a:t>
                      </a:r>
                    </a:p>
                  </a:txBody>
                  <a:tcPr marL="46375" marR="46375" marT="23188" marB="23188" anchor="ctr"/>
                </a:tc>
                <a:tc>
                  <a:txBody>
                    <a:bodyPr/>
                    <a:lstStyle/>
                    <a:p>
                      <a:r>
                        <a:rPr lang="en-US" sz="1050"/>
                        <a:t>Title</a:t>
                      </a:r>
                    </a:p>
                  </a:txBody>
                  <a:tcPr marL="46375" marR="46375" marT="23188" marB="23188" anchor="ctr"/>
                </a:tc>
                <a:tc>
                  <a:txBody>
                    <a:bodyPr/>
                    <a:lstStyle/>
                    <a:p>
                      <a:r>
                        <a:rPr lang="en-US" sz="1050"/>
                        <a:t>Authors</a:t>
                      </a:r>
                    </a:p>
                  </a:txBody>
                  <a:tcPr marL="46375" marR="46375" marT="23188" marB="23188" anchor="ctr"/>
                </a:tc>
                <a:tc>
                  <a:txBody>
                    <a:bodyPr/>
                    <a:lstStyle/>
                    <a:p>
                      <a:r>
                        <a:rPr lang="en-US" sz="1050"/>
                        <a:t>Year</a:t>
                      </a:r>
                    </a:p>
                  </a:txBody>
                  <a:tcPr marL="46375" marR="46375" marT="23188" marB="23188" anchor="ctr"/>
                </a:tc>
                <a:tc>
                  <a:txBody>
                    <a:bodyPr/>
                    <a:lstStyle/>
                    <a:p>
                      <a:r>
                        <a:rPr lang="en-US" sz="1050"/>
                        <a:t>Methodology</a:t>
                      </a:r>
                    </a:p>
                  </a:txBody>
                  <a:tcPr marL="46375" marR="46375" marT="23188" marB="23188" anchor="ctr"/>
                </a:tc>
                <a:tc>
                  <a:txBody>
                    <a:bodyPr/>
                    <a:lstStyle/>
                    <a:p>
                      <a:r>
                        <a:rPr lang="en-US" sz="1050"/>
                        <a:t>Pros</a:t>
                      </a:r>
                    </a:p>
                  </a:txBody>
                  <a:tcPr marL="46375" marR="46375" marT="23188" marB="23188" anchor="ctr"/>
                </a:tc>
                <a:tc>
                  <a:txBody>
                    <a:bodyPr/>
                    <a:lstStyle/>
                    <a:p>
                      <a:r>
                        <a:rPr lang="en-US" sz="1050"/>
                        <a:t>Cons</a:t>
                      </a:r>
                    </a:p>
                  </a:txBody>
                  <a:tcPr marL="46375" marR="46375" marT="23188" marB="23188" anchor="ctr"/>
                </a:tc>
                <a:extLst>
                  <a:ext uri="{0D108BD9-81ED-4DB2-BD59-A6C34878D82A}">
                    <a16:rowId xmlns:a16="http://schemas.microsoft.com/office/drawing/2014/main" val="10000"/>
                  </a:ext>
                </a:extLst>
              </a:tr>
              <a:tr h="873104">
                <a:tc>
                  <a:txBody>
                    <a:bodyPr/>
                    <a:lstStyle/>
                    <a:p>
                      <a:r>
                        <a:rPr lang="en-US" sz="1050" dirty="0"/>
                        <a:t>1</a:t>
                      </a:r>
                    </a:p>
                  </a:txBody>
                  <a:tcPr marL="46375" marR="46375" marT="23188" marB="23188" anchor="ctr"/>
                </a:tc>
                <a:tc>
                  <a:txBody>
                    <a:bodyPr/>
                    <a:lstStyle/>
                    <a:p>
                      <a:r>
                        <a:rPr lang="en-US" sz="1050"/>
                        <a:t>Pharmacy Management System using Artificial Intelligence</a:t>
                      </a:r>
                    </a:p>
                  </a:txBody>
                  <a:tcPr marL="46375" marR="46375" marT="23188" marB="23188" anchor="ctr"/>
                </a:tc>
                <a:tc>
                  <a:txBody>
                    <a:bodyPr/>
                    <a:lstStyle/>
                    <a:p>
                      <a:r>
                        <a:rPr lang="en-US" sz="1050" dirty="0" err="1"/>
                        <a:t>Nishane</a:t>
                      </a:r>
                      <a:r>
                        <a:rPr lang="en-US" sz="1050" dirty="0"/>
                        <a:t>, O., </a:t>
                      </a:r>
                      <a:r>
                        <a:rPr lang="en-US" sz="1050" dirty="0" err="1"/>
                        <a:t>Ajankar</a:t>
                      </a:r>
                      <a:r>
                        <a:rPr lang="en-US" sz="1050" dirty="0"/>
                        <a:t>, V.</a:t>
                      </a:r>
                    </a:p>
                  </a:txBody>
                  <a:tcPr marL="46375" marR="46375" marT="23188" marB="23188" anchor="ctr"/>
                </a:tc>
                <a:tc>
                  <a:txBody>
                    <a:bodyPr/>
                    <a:lstStyle/>
                    <a:p>
                      <a:r>
                        <a:rPr lang="en-US" sz="1050"/>
                        <a:t>2025</a:t>
                      </a:r>
                    </a:p>
                  </a:txBody>
                  <a:tcPr marL="46375" marR="46375" marT="23188" marB="23188" anchor="ctr"/>
                </a:tc>
                <a:tc>
                  <a:txBody>
                    <a:bodyPr/>
                    <a:lstStyle/>
                    <a:p>
                      <a:r>
                        <a:rPr lang="en-US" sz="1050"/>
                        <a:t>AI-based automation with rule-based prescription processing</a:t>
                      </a:r>
                    </a:p>
                  </a:txBody>
                  <a:tcPr marL="46375" marR="46375" marT="23188" marB="23188" anchor="ctr"/>
                </a:tc>
                <a:tc>
                  <a:txBody>
                    <a:bodyPr/>
                    <a:lstStyle/>
                    <a:p>
                      <a:r>
                        <a:rPr lang="en-US" sz="1050"/>
                        <a:t>Reduces manual errors, improves automation</a:t>
                      </a:r>
                    </a:p>
                  </a:txBody>
                  <a:tcPr marL="46375" marR="46375" marT="23188" marB="23188" anchor="ctr"/>
                </a:tc>
                <a:tc>
                  <a:txBody>
                    <a:bodyPr/>
                    <a:lstStyle/>
                    <a:p>
                      <a:r>
                        <a:rPr lang="en-US" sz="1050"/>
                        <a:t>Rule-based, not scalable, no ML forecasting or chatbot</a:t>
                      </a:r>
                    </a:p>
                  </a:txBody>
                  <a:tcPr marL="46375" marR="46375" marT="23188" marB="23188" anchor="ctr"/>
                </a:tc>
                <a:extLst>
                  <a:ext uri="{0D108BD9-81ED-4DB2-BD59-A6C34878D82A}">
                    <a16:rowId xmlns:a16="http://schemas.microsoft.com/office/drawing/2014/main" val="10001"/>
                  </a:ext>
                </a:extLst>
              </a:tr>
              <a:tr h="734292">
                <a:tc>
                  <a:txBody>
                    <a:bodyPr/>
                    <a:lstStyle/>
                    <a:p>
                      <a:r>
                        <a:rPr lang="en-US" sz="1050"/>
                        <a:t>2</a:t>
                      </a:r>
                    </a:p>
                  </a:txBody>
                  <a:tcPr marL="46375" marR="46375" marT="23188" marB="23188" anchor="ctr"/>
                </a:tc>
                <a:tc>
                  <a:txBody>
                    <a:bodyPr/>
                    <a:lstStyle/>
                    <a:p>
                      <a:r>
                        <a:rPr lang="en-US" sz="1050" dirty="0"/>
                        <a:t>Digital Evolution in Pharmacy Practice</a:t>
                      </a:r>
                    </a:p>
                  </a:txBody>
                  <a:tcPr marL="46375" marR="46375" marT="23188" marB="23188" anchor="ctr"/>
                </a:tc>
                <a:tc>
                  <a:txBody>
                    <a:bodyPr/>
                    <a:lstStyle/>
                    <a:p>
                      <a:r>
                        <a:rPr lang="pt-BR" sz="1050"/>
                        <a:t>Ogundipe, A., Sim, T. F., Emmerton, L.</a:t>
                      </a:r>
                    </a:p>
                  </a:txBody>
                  <a:tcPr marL="46375" marR="46375" marT="23188" marB="23188" anchor="ctr"/>
                </a:tc>
                <a:tc>
                  <a:txBody>
                    <a:bodyPr/>
                    <a:lstStyle/>
                    <a:p>
                      <a:r>
                        <a:rPr lang="en-US" sz="1050"/>
                        <a:t>2025</a:t>
                      </a:r>
                    </a:p>
                  </a:txBody>
                  <a:tcPr marL="46375" marR="46375" marT="23188" marB="23188" anchor="ctr"/>
                </a:tc>
                <a:tc>
                  <a:txBody>
                    <a:bodyPr/>
                    <a:lstStyle/>
                    <a:p>
                      <a:r>
                        <a:rPr lang="en-US" sz="1050"/>
                        <a:t>Study on digital transformation trends and workflows</a:t>
                      </a:r>
                    </a:p>
                  </a:txBody>
                  <a:tcPr marL="46375" marR="46375" marT="23188" marB="23188" anchor="ctr"/>
                </a:tc>
                <a:tc>
                  <a:txBody>
                    <a:bodyPr/>
                    <a:lstStyle/>
                    <a:p>
                      <a:r>
                        <a:rPr lang="en-US" sz="1050"/>
                        <a:t>Provides strategic and policy-level insights</a:t>
                      </a:r>
                    </a:p>
                  </a:txBody>
                  <a:tcPr marL="46375" marR="46375" marT="23188" marB="23188" anchor="ctr"/>
                </a:tc>
                <a:tc>
                  <a:txBody>
                    <a:bodyPr/>
                    <a:lstStyle/>
                    <a:p>
                      <a:r>
                        <a:rPr lang="en-US" sz="1050"/>
                        <a:t>No technical implementation</a:t>
                      </a:r>
                    </a:p>
                  </a:txBody>
                  <a:tcPr marL="46375" marR="46375" marT="23188" marB="23188" anchor="ctr"/>
                </a:tc>
                <a:extLst>
                  <a:ext uri="{0D108BD9-81ED-4DB2-BD59-A6C34878D82A}">
                    <a16:rowId xmlns:a16="http://schemas.microsoft.com/office/drawing/2014/main" val="10002"/>
                  </a:ext>
                </a:extLst>
              </a:tr>
              <a:tr h="1026183">
                <a:tc>
                  <a:txBody>
                    <a:bodyPr/>
                    <a:lstStyle/>
                    <a:p>
                      <a:r>
                        <a:rPr lang="en-US" sz="1050"/>
                        <a:t>3</a:t>
                      </a:r>
                    </a:p>
                  </a:txBody>
                  <a:tcPr marL="46375" marR="46375" marT="23188" marB="23188" anchor="ctr"/>
                </a:tc>
                <a:tc>
                  <a:txBody>
                    <a:bodyPr/>
                    <a:lstStyle/>
                    <a:p>
                      <a:r>
                        <a:rPr lang="en-US" sz="1050"/>
                        <a:t>Digital Healthcare Services in Community Pharmacies (Pneumoscope™)</a:t>
                      </a:r>
                    </a:p>
                  </a:txBody>
                  <a:tcPr marL="46375" marR="46375" marT="23188" marB="23188" anchor="ctr"/>
                </a:tc>
                <a:tc>
                  <a:txBody>
                    <a:bodyPr/>
                    <a:lstStyle/>
                    <a:p>
                      <a:r>
                        <a:rPr lang="en-US" sz="1050" dirty="0"/>
                        <a:t>Backes, C., et al.</a:t>
                      </a:r>
                    </a:p>
                  </a:txBody>
                  <a:tcPr marL="46375" marR="46375" marT="23188" marB="23188" anchor="ctr"/>
                </a:tc>
                <a:tc>
                  <a:txBody>
                    <a:bodyPr/>
                    <a:lstStyle/>
                    <a:p>
                      <a:r>
                        <a:rPr lang="en-US" sz="1050"/>
                        <a:t>2025</a:t>
                      </a:r>
                    </a:p>
                  </a:txBody>
                  <a:tcPr marL="46375" marR="46375" marT="23188" marB="23188" anchor="ctr"/>
                </a:tc>
                <a:tc>
                  <a:txBody>
                    <a:bodyPr/>
                    <a:lstStyle/>
                    <a:p>
                      <a:r>
                        <a:rPr lang="en-US" sz="1050"/>
                        <a:t>Pilot study of digital consultation tools</a:t>
                      </a:r>
                    </a:p>
                  </a:txBody>
                  <a:tcPr marL="46375" marR="46375" marT="23188" marB="23188" anchor="ctr"/>
                </a:tc>
                <a:tc>
                  <a:txBody>
                    <a:bodyPr/>
                    <a:lstStyle/>
                    <a:p>
                      <a:r>
                        <a:rPr lang="en-US" sz="1050"/>
                        <a:t>Validates digital readiness</a:t>
                      </a:r>
                    </a:p>
                  </a:txBody>
                  <a:tcPr marL="46375" marR="46375" marT="23188" marB="23188" anchor="ctr"/>
                </a:tc>
                <a:tc>
                  <a:txBody>
                    <a:bodyPr/>
                    <a:lstStyle/>
                    <a:p>
                      <a:r>
                        <a:rPr lang="en-US" sz="1050"/>
                        <a:t>Small sample size, no inventory or OCR</a:t>
                      </a:r>
                    </a:p>
                  </a:txBody>
                  <a:tcPr marL="46375" marR="46375" marT="23188" marB="23188" anchor="ctr"/>
                </a:tc>
                <a:extLst>
                  <a:ext uri="{0D108BD9-81ED-4DB2-BD59-A6C34878D82A}">
                    <a16:rowId xmlns:a16="http://schemas.microsoft.com/office/drawing/2014/main" val="10003"/>
                  </a:ext>
                </a:extLst>
              </a:tr>
              <a:tr h="699883">
                <a:tc>
                  <a:txBody>
                    <a:bodyPr/>
                    <a:lstStyle/>
                    <a:p>
                      <a:r>
                        <a:rPr lang="en-US" sz="1050"/>
                        <a:t>4</a:t>
                      </a:r>
                    </a:p>
                  </a:txBody>
                  <a:tcPr marL="46375" marR="46375" marT="23188" marB="23188" anchor="ctr"/>
                </a:tc>
                <a:tc>
                  <a:txBody>
                    <a:bodyPr/>
                    <a:lstStyle/>
                    <a:p>
                      <a:r>
                        <a:rPr lang="en-US" sz="1050"/>
                        <a:t>DSCSA-Compliant Real-Time Inventory Management</a:t>
                      </a:r>
                    </a:p>
                  </a:txBody>
                  <a:tcPr marL="46375" marR="46375" marT="23188" marB="23188" anchor="ctr"/>
                </a:tc>
                <a:tc>
                  <a:txBody>
                    <a:bodyPr/>
                    <a:lstStyle/>
                    <a:p>
                      <a:r>
                        <a:rPr lang="en-US" sz="1050"/>
                        <a:t>Karvannan, R.</a:t>
                      </a:r>
                    </a:p>
                  </a:txBody>
                  <a:tcPr marL="46375" marR="46375" marT="23188" marB="23188" anchor="ctr"/>
                </a:tc>
                <a:tc>
                  <a:txBody>
                    <a:bodyPr/>
                    <a:lstStyle/>
                    <a:p>
                      <a:r>
                        <a:rPr lang="en-US" sz="1050"/>
                        <a:t>2025</a:t>
                      </a:r>
                    </a:p>
                  </a:txBody>
                  <a:tcPr marL="46375" marR="46375" marT="23188" marB="23188" anchor="ctr"/>
                </a:tc>
                <a:tc>
                  <a:txBody>
                    <a:bodyPr/>
                    <a:lstStyle/>
                    <a:p>
                      <a:r>
                        <a:rPr lang="en-US" sz="1050"/>
                        <a:t>Compliance-based real-time inventory tracking</a:t>
                      </a:r>
                    </a:p>
                  </a:txBody>
                  <a:tcPr marL="46375" marR="46375" marT="23188" marB="23188" anchor="ctr"/>
                </a:tc>
                <a:tc>
                  <a:txBody>
                    <a:bodyPr/>
                    <a:lstStyle/>
                    <a:p>
                      <a:r>
                        <a:rPr lang="en-US" sz="1050"/>
                        <a:t>Ensures traceability and regulation</a:t>
                      </a:r>
                    </a:p>
                  </a:txBody>
                  <a:tcPr marL="46375" marR="46375" marT="23188" marB="23188" anchor="ctr"/>
                </a:tc>
                <a:tc>
                  <a:txBody>
                    <a:bodyPr/>
                    <a:lstStyle/>
                    <a:p>
                      <a:r>
                        <a:rPr lang="en-US" sz="1050"/>
                        <a:t>No OCR, AI decision support, or forecasting</a:t>
                      </a:r>
                    </a:p>
                  </a:txBody>
                  <a:tcPr marL="46375" marR="46375" marT="23188" marB="23188" anchor="ctr"/>
                </a:tc>
                <a:extLst>
                  <a:ext uri="{0D108BD9-81ED-4DB2-BD59-A6C34878D82A}">
                    <a16:rowId xmlns:a16="http://schemas.microsoft.com/office/drawing/2014/main" val="10004"/>
                  </a:ext>
                </a:extLst>
              </a:tr>
              <a:tr h="699883">
                <a:tc>
                  <a:txBody>
                    <a:bodyPr/>
                    <a:lstStyle/>
                    <a:p>
                      <a:r>
                        <a:rPr lang="en-US" sz="1050"/>
                        <a:t>5</a:t>
                      </a:r>
                    </a:p>
                  </a:txBody>
                  <a:tcPr marL="46375" marR="46375" marT="23188" marB="23188" anchor="ctr"/>
                </a:tc>
                <a:tc>
                  <a:txBody>
                    <a:bodyPr/>
                    <a:lstStyle/>
                    <a:p>
                      <a:r>
                        <a:rPr lang="en-US" sz="1050"/>
                        <a:t>AWS Cloud for Pharmacy Cashier Management</a:t>
                      </a:r>
                    </a:p>
                  </a:txBody>
                  <a:tcPr marL="46375" marR="46375" marT="23188" marB="23188" anchor="ctr"/>
                </a:tc>
                <a:tc>
                  <a:txBody>
                    <a:bodyPr/>
                    <a:lstStyle/>
                    <a:p>
                      <a:r>
                        <a:rPr lang="en-US" sz="1050"/>
                        <a:t>Kurniawan, H., Handoko, L. B., Aldo, V.</a:t>
                      </a:r>
                    </a:p>
                  </a:txBody>
                  <a:tcPr marL="46375" marR="46375" marT="23188" marB="23188" anchor="ctr"/>
                </a:tc>
                <a:tc>
                  <a:txBody>
                    <a:bodyPr/>
                    <a:lstStyle/>
                    <a:p>
                      <a:r>
                        <a:rPr lang="en-US" sz="1050"/>
                        <a:t>2025</a:t>
                      </a:r>
                    </a:p>
                  </a:txBody>
                  <a:tcPr marL="46375" marR="46375" marT="23188" marB="23188" anchor="ctr"/>
                </a:tc>
                <a:tc>
                  <a:txBody>
                    <a:bodyPr/>
                    <a:lstStyle/>
                    <a:p>
                      <a:r>
                        <a:rPr lang="en-US" sz="1050"/>
                        <a:t>Cloud migration of cashier systems</a:t>
                      </a:r>
                    </a:p>
                  </a:txBody>
                  <a:tcPr marL="46375" marR="46375" marT="23188" marB="23188" anchor="ctr"/>
                </a:tc>
                <a:tc>
                  <a:txBody>
                    <a:bodyPr/>
                    <a:lstStyle/>
                    <a:p>
                      <a:r>
                        <a:rPr lang="en-US" sz="1050"/>
                        <a:t>Improves performance and security</a:t>
                      </a:r>
                    </a:p>
                  </a:txBody>
                  <a:tcPr marL="46375" marR="46375" marT="23188" marB="23188" anchor="ctr"/>
                </a:tc>
                <a:tc>
                  <a:txBody>
                    <a:bodyPr/>
                    <a:lstStyle/>
                    <a:p>
                      <a:r>
                        <a:rPr lang="en-US" sz="1050" dirty="0"/>
                        <a:t>Limited to billing operations</a:t>
                      </a:r>
                    </a:p>
                  </a:txBody>
                  <a:tcPr marL="46375" marR="46375" marT="23188" marB="23188"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LITERATURE REVIEW</a:t>
            </a:r>
            <a:endParaRPr/>
          </a:p>
        </p:txBody>
      </p:sp>
      <p:graphicFrame>
        <p:nvGraphicFramePr>
          <p:cNvPr id="2" name="Table 1"/>
          <p:cNvGraphicFramePr>
            <a:graphicFrameLocks noGrp="1"/>
          </p:cNvGraphicFramePr>
          <p:nvPr>
            <p:extLst>
              <p:ext uri="{D42A27DB-BD31-4B8C-83A1-F6EECF244321}">
                <p14:modId xmlns:p14="http://schemas.microsoft.com/office/powerpoint/2010/main" val="2783743536"/>
              </p:ext>
            </p:extLst>
          </p:nvPr>
        </p:nvGraphicFramePr>
        <p:xfrm>
          <a:off x="1142998" y="1023731"/>
          <a:ext cx="7205870" cy="3578088"/>
        </p:xfrm>
        <a:graphic>
          <a:graphicData uri="http://schemas.openxmlformats.org/drawingml/2006/table">
            <a:tbl>
              <a:tblPr firstRow="1">
                <a:tableStyleId>{17292A2E-F333-43FB-9621-5CBBE7FDCDCB}</a:tableStyleId>
              </a:tblPr>
              <a:tblGrid>
                <a:gridCol w="1029410">
                  <a:extLst>
                    <a:ext uri="{9D8B030D-6E8A-4147-A177-3AD203B41FA5}">
                      <a16:colId xmlns:a16="http://schemas.microsoft.com/office/drawing/2014/main" val="20000"/>
                    </a:ext>
                  </a:extLst>
                </a:gridCol>
                <a:gridCol w="1029410">
                  <a:extLst>
                    <a:ext uri="{9D8B030D-6E8A-4147-A177-3AD203B41FA5}">
                      <a16:colId xmlns:a16="http://schemas.microsoft.com/office/drawing/2014/main" val="20001"/>
                    </a:ext>
                  </a:extLst>
                </a:gridCol>
                <a:gridCol w="1029410">
                  <a:extLst>
                    <a:ext uri="{9D8B030D-6E8A-4147-A177-3AD203B41FA5}">
                      <a16:colId xmlns:a16="http://schemas.microsoft.com/office/drawing/2014/main" val="20002"/>
                    </a:ext>
                  </a:extLst>
                </a:gridCol>
                <a:gridCol w="1029410">
                  <a:extLst>
                    <a:ext uri="{9D8B030D-6E8A-4147-A177-3AD203B41FA5}">
                      <a16:colId xmlns:a16="http://schemas.microsoft.com/office/drawing/2014/main" val="20003"/>
                    </a:ext>
                  </a:extLst>
                </a:gridCol>
                <a:gridCol w="1029410">
                  <a:extLst>
                    <a:ext uri="{9D8B030D-6E8A-4147-A177-3AD203B41FA5}">
                      <a16:colId xmlns:a16="http://schemas.microsoft.com/office/drawing/2014/main" val="20004"/>
                    </a:ext>
                  </a:extLst>
                </a:gridCol>
                <a:gridCol w="1029410">
                  <a:extLst>
                    <a:ext uri="{9D8B030D-6E8A-4147-A177-3AD203B41FA5}">
                      <a16:colId xmlns:a16="http://schemas.microsoft.com/office/drawing/2014/main" val="20005"/>
                    </a:ext>
                  </a:extLst>
                </a:gridCol>
                <a:gridCol w="1029410">
                  <a:extLst>
                    <a:ext uri="{9D8B030D-6E8A-4147-A177-3AD203B41FA5}">
                      <a16:colId xmlns:a16="http://schemas.microsoft.com/office/drawing/2014/main" val="20006"/>
                    </a:ext>
                  </a:extLst>
                </a:gridCol>
              </a:tblGrid>
              <a:tr h="161904">
                <a:tc>
                  <a:txBody>
                    <a:bodyPr/>
                    <a:lstStyle/>
                    <a:p>
                      <a:r>
                        <a:rPr lang="en-US" sz="700"/>
                        <a:t>S. No</a:t>
                      </a:r>
                    </a:p>
                  </a:txBody>
                  <a:tcPr marL="46375" marR="46375" marT="23188" marB="23188" anchor="ctr"/>
                </a:tc>
                <a:tc>
                  <a:txBody>
                    <a:bodyPr/>
                    <a:lstStyle/>
                    <a:p>
                      <a:r>
                        <a:rPr lang="en-US" sz="700"/>
                        <a:t>Title</a:t>
                      </a:r>
                    </a:p>
                  </a:txBody>
                  <a:tcPr marL="46375" marR="46375" marT="23188" marB="23188" anchor="ctr"/>
                </a:tc>
                <a:tc>
                  <a:txBody>
                    <a:bodyPr/>
                    <a:lstStyle/>
                    <a:p>
                      <a:r>
                        <a:rPr lang="en-US" sz="700"/>
                        <a:t>Authors</a:t>
                      </a:r>
                    </a:p>
                  </a:txBody>
                  <a:tcPr marL="46375" marR="46375" marT="23188" marB="23188" anchor="ctr"/>
                </a:tc>
                <a:tc>
                  <a:txBody>
                    <a:bodyPr/>
                    <a:lstStyle/>
                    <a:p>
                      <a:r>
                        <a:rPr lang="en-US" sz="700"/>
                        <a:t>Year</a:t>
                      </a:r>
                    </a:p>
                  </a:txBody>
                  <a:tcPr marL="46375" marR="46375" marT="23188" marB="23188" anchor="ctr"/>
                </a:tc>
                <a:tc>
                  <a:txBody>
                    <a:bodyPr/>
                    <a:lstStyle/>
                    <a:p>
                      <a:r>
                        <a:rPr lang="en-US" sz="700"/>
                        <a:t>Methodology</a:t>
                      </a:r>
                    </a:p>
                  </a:txBody>
                  <a:tcPr marL="46375" marR="46375" marT="23188" marB="23188" anchor="ctr"/>
                </a:tc>
                <a:tc>
                  <a:txBody>
                    <a:bodyPr/>
                    <a:lstStyle/>
                    <a:p>
                      <a:r>
                        <a:rPr lang="en-US" sz="700"/>
                        <a:t>Pros</a:t>
                      </a:r>
                    </a:p>
                  </a:txBody>
                  <a:tcPr marL="46375" marR="46375" marT="23188" marB="23188" anchor="ctr"/>
                </a:tc>
                <a:tc>
                  <a:txBody>
                    <a:bodyPr/>
                    <a:lstStyle/>
                    <a:p>
                      <a:r>
                        <a:rPr lang="en-US" sz="700"/>
                        <a:t>Cons</a:t>
                      </a:r>
                    </a:p>
                  </a:txBody>
                  <a:tcPr marL="46375" marR="46375" marT="23188" marB="23188" anchor="ctr"/>
                </a:tc>
                <a:extLst>
                  <a:ext uri="{0D108BD9-81ED-4DB2-BD59-A6C34878D82A}">
                    <a16:rowId xmlns:a16="http://schemas.microsoft.com/office/drawing/2014/main" val="10000"/>
                  </a:ext>
                </a:extLst>
              </a:tr>
              <a:tr h="728570">
                <a:tc>
                  <a:txBody>
                    <a:bodyPr/>
                    <a:lstStyle/>
                    <a:p>
                      <a:r>
                        <a:rPr lang="en-US" sz="700" dirty="0"/>
                        <a:t>6</a:t>
                      </a:r>
                    </a:p>
                  </a:txBody>
                  <a:tcPr marL="46375" marR="46375" marT="23188" marB="23188" anchor="ctr"/>
                </a:tc>
                <a:tc>
                  <a:txBody>
                    <a:bodyPr/>
                    <a:lstStyle/>
                    <a:p>
                      <a:r>
                        <a:rPr lang="en-US" sz="700"/>
                        <a:t>Semi-Supervised Learning for Classifying Drug Attributes</a:t>
                      </a:r>
                    </a:p>
                  </a:txBody>
                  <a:tcPr marL="46375" marR="46375" marT="23188" marB="23188" anchor="ctr"/>
                </a:tc>
                <a:tc>
                  <a:txBody>
                    <a:bodyPr/>
                    <a:lstStyle/>
                    <a:p>
                      <a:r>
                        <a:rPr lang="de-DE" sz="700"/>
                        <a:t>Pan, Q., Liu, Y., Wei, S.</a:t>
                      </a:r>
                    </a:p>
                  </a:txBody>
                  <a:tcPr marL="46375" marR="46375" marT="23188" marB="23188" anchor="ctr"/>
                </a:tc>
                <a:tc>
                  <a:txBody>
                    <a:bodyPr/>
                    <a:lstStyle/>
                    <a:p>
                      <a:r>
                        <a:rPr lang="en-US" sz="700"/>
                        <a:t>2025</a:t>
                      </a:r>
                    </a:p>
                  </a:txBody>
                  <a:tcPr marL="46375" marR="46375" marT="23188" marB="23188" anchor="ctr"/>
                </a:tc>
                <a:tc>
                  <a:txBody>
                    <a:bodyPr/>
                    <a:lstStyle/>
                    <a:p>
                      <a:r>
                        <a:rPr lang="en-US" sz="700"/>
                        <a:t>Semi-supervised ML for medicine attribute classification</a:t>
                      </a:r>
                    </a:p>
                  </a:txBody>
                  <a:tcPr marL="46375" marR="46375" marT="23188" marB="23188" anchor="ctr"/>
                </a:tc>
                <a:tc>
                  <a:txBody>
                    <a:bodyPr/>
                    <a:lstStyle/>
                    <a:p>
                      <a:r>
                        <a:rPr lang="en-US" sz="700"/>
                        <a:t>Reduces labeling cost, good accuracy</a:t>
                      </a:r>
                    </a:p>
                  </a:txBody>
                  <a:tcPr marL="46375" marR="46375" marT="23188" marB="23188" anchor="ctr"/>
                </a:tc>
                <a:tc>
                  <a:txBody>
                    <a:bodyPr/>
                    <a:lstStyle/>
                    <a:p>
                      <a:r>
                        <a:rPr lang="en-US" sz="700"/>
                        <a:t>Not integrated with inventory or dispensing</a:t>
                      </a:r>
                    </a:p>
                  </a:txBody>
                  <a:tcPr marL="46375" marR="46375" marT="23188" marB="23188" anchor="ctr"/>
                </a:tc>
                <a:extLst>
                  <a:ext uri="{0D108BD9-81ED-4DB2-BD59-A6C34878D82A}">
                    <a16:rowId xmlns:a16="http://schemas.microsoft.com/office/drawing/2014/main" val="10001"/>
                  </a:ext>
                </a:extLst>
              </a:tr>
              <a:tr h="728570">
                <a:tc>
                  <a:txBody>
                    <a:bodyPr/>
                    <a:lstStyle/>
                    <a:p>
                      <a:r>
                        <a:rPr lang="en-US" sz="700"/>
                        <a:t>7</a:t>
                      </a:r>
                    </a:p>
                  </a:txBody>
                  <a:tcPr marL="46375" marR="46375" marT="23188" marB="23188" anchor="ctr"/>
                </a:tc>
                <a:tc>
                  <a:txBody>
                    <a:bodyPr/>
                    <a:lstStyle/>
                    <a:p>
                      <a:r>
                        <a:rPr lang="en-US" sz="700"/>
                        <a:t>Scalable Cloud Architecture for Pharmacy Inventory</a:t>
                      </a:r>
                    </a:p>
                  </a:txBody>
                  <a:tcPr marL="46375" marR="46375" marT="23188" marB="23188" anchor="ctr"/>
                </a:tc>
                <a:tc>
                  <a:txBody>
                    <a:bodyPr/>
                    <a:lstStyle/>
                    <a:p>
                      <a:r>
                        <a:rPr lang="en-US" sz="700"/>
                        <a:t>Karvannan, R.</a:t>
                      </a:r>
                    </a:p>
                  </a:txBody>
                  <a:tcPr marL="46375" marR="46375" marT="23188" marB="23188" anchor="ctr"/>
                </a:tc>
                <a:tc>
                  <a:txBody>
                    <a:bodyPr/>
                    <a:lstStyle/>
                    <a:p>
                      <a:r>
                        <a:rPr lang="en-US" sz="700"/>
                        <a:t>2025</a:t>
                      </a:r>
                    </a:p>
                  </a:txBody>
                  <a:tcPr marL="46375" marR="46375" marT="23188" marB="23188" anchor="ctr"/>
                </a:tc>
                <a:tc>
                  <a:txBody>
                    <a:bodyPr/>
                    <a:lstStyle/>
                    <a:p>
                      <a:r>
                        <a:rPr lang="en-US" sz="700"/>
                        <a:t>Cloud-based multi-branch inventory synchronization</a:t>
                      </a:r>
                    </a:p>
                  </a:txBody>
                  <a:tcPr marL="46375" marR="46375" marT="23188" marB="23188" anchor="ctr"/>
                </a:tc>
                <a:tc>
                  <a:txBody>
                    <a:bodyPr/>
                    <a:lstStyle/>
                    <a:p>
                      <a:r>
                        <a:rPr lang="en-US" sz="700"/>
                        <a:t>Improves consistency across branches</a:t>
                      </a:r>
                    </a:p>
                  </a:txBody>
                  <a:tcPr marL="46375" marR="46375" marT="23188" marB="23188" anchor="ctr"/>
                </a:tc>
                <a:tc>
                  <a:txBody>
                    <a:bodyPr/>
                    <a:lstStyle/>
                    <a:p>
                      <a:r>
                        <a:rPr lang="en-US" sz="700"/>
                        <a:t>No demand forecasting or OCR</a:t>
                      </a:r>
                    </a:p>
                  </a:txBody>
                  <a:tcPr marL="46375" marR="46375" marT="23188" marB="23188" anchor="ctr"/>
                </a:tc>
                <a:extLst>
                  <a:ext uri="{0D108BD9-81ED-4DB2-BD59-A6C34878D82A}">
                    <a16:rowId xmlns:a16="http://schemas.microsoft.com/office/drawing/2014/main" val="10002"/>
                  </a:ext>
                </a:extLst>
              </a:tr>
              <a:tr h="615237">
                <a:tc>
                  <a:txBody>
                    <a:bodyPr/>
                    <a:lstStyle/>
                    <a:p>
                      <a:r>
                        <a:rPr lang="en-US" sz="700"/>
                        <a:t>8</a:t>
                      </a:r>
                    </a:p>
                  </a:txBody>
                  <a:tcPr marL="46375" marR="46375" marT="23188" marB="23188" anchor="ctr"/>
                </a:tc>
                <a:tc>
                  <a:txBody>
                    <a:bodyPr/>
                    <a:lstStyle/>
                    <a:p>
                      <a:r>
                        <a:rPr lang="en-US" sz="700"/>
                        <a:t>AI Detection of Persistent vs Non-Persistent Medications</a:t>
                      </a:r>
                    </a:p>
                  </a:txBody>
                  <a:tcPr marL="46375" marR="46375" marT="23188" marB="23188" anchor="ctr"/>
                </a:tc>
                <a:tc>
                  <a:txBody>
                    <a:bodyPr/>
                    <a:lstStyle/>
                    <a:p>
                      <a:r>
                        <a:rPr lang="en-US" sz="700"/>
                        <a:t>Abasa, S., et al.</a:t>
                      </a:r>
                    </a:p>
                  </a:txBody>
                  <a:tcPr marL="46375" marR="46375" marT="23188" marB="23188" anchor="ctr"/>
                </a:tc>
                <a:tc>
                  <a:txBody>
                    <a:bodyPr/>
                    <a:lstStyle/>
                    <a:p>
                      <a:r>
                        <a:rPr lang="en-US" sz="700"/>
                        <a:t>2025</a:t>
                      </a:r>
                    </a:p>
                  </a:txBody>
                  <a:tcPr marL="46375" marR="46375" marT="23188" marB="23188" anchor="ctr"/>
                </a:tc>
                <a:tc>
                  <a:txBody>
                    <a:bodyPr/>
                    <a:lstStyle/>
                    <a:p>
                      <a:r>
                        <a:rPr lang="en-US" sz="700"/>
                        <a:t>ML models for medication persistence classification</a:t>
                      </a:r>
                    </a:p>
                  </a:txBody>
                  <a:tcPr marL="46375" marR="46375" marT="23188" marB="23188" anchor="ctr"/>
                </a:tc>
                <a:tc>
                  <a:txBody>
                    <a:bodyPr/>
                    <a:lstStyle/>
                    <a:p>
                      <a:r>
                        <a:rPr lang="en-US" sz="700"/>
                        <a:t>Enhances pharmaceutical safety</a:t>
                      </a:r>
                    </a:p>
                  </a:txBody>
                  <a:tcPr marL="46375" marR="46375" marT="23188" marB="23188" anchor="ctr"/>
                </a:tc>
                <a:tc>
                  <a:txBody>
                    <a:bodyPr/>
                    <a:lstStyle/>
                    <a:p>
                      <a:r>
                        <a:rPr lang="en-US" sz="700"/>
                        <a:t>Limited dataset, no live system validation</a:t>
                      </a:r>
                    </a:p>
                  </a:txBody>
                  <a:tcPr marL="46375" marR="46375" marT="23188" marB="23188" anchor="ctr"/>
                </a:tc>
                <a:extLst>
                  <a:ext uri="{0D108BD9-81ED-4DB2-BD59-A6C34878D82A}">
                    <a16:rowId xmlns:a16="http://schemas.microsoft.com/office/drawing/2014/main" val="10003"/>
                  </a:ext>
                </a:extLst>
              </a:tr>
              <a:tr h="615237">
                <a:tc>
                  <a:txBody>
                    <a:bodyPr/>
                    <a:lstStyle/>
                    <a:p>
                      <a:r>
                        <a:rPr lang="en-US" sz="700"/>
                        <a:t>9</a:t>
                      </a:r>
                    </a:p>
                  </a:txBody>
                  <a:tcPr marL="46375" marR="46375" marT="23188" marB="23188" anchor="ctr"/>
                </a:tc>
                <a:tc>
                  <a:txBody>
                    <a:bodyPr/>
                    <a:lstStyle/>
                    <a:p>
                      <a:r>
                        <a:rPr lang="en-US" sz="700"/>
                        <a:t>Pharmacist-Led Digital Health Interventions for Diabetes</a:t>
                      </a:r>
                    </a:p>
                  </a:txBody>
                  <a:tcPr marL="46375" marR="46375" marT="23188" marB="23188" anchor="ctr"/>
                </a:tc>
                <a:tc>
                  <a:txBody>
                    <a:bodyPr/>
                    <a:lstStyle/>
                    <a:p>
                      <a:r>
                        <a:rPr lang="en-US" sz="700"/>
                        <a:t>Christy, A., et al.</a:t>
                      </a:r>
                    </a:p>
                  </a:txBody>
                  <a:tcPr marL="46375" marR="46375" marT="23188" marB="23188" anchor="ctr"/>
                </a:tc>
                <a:tc>
                  <a:txBody>
                    <a:bodyPr/>
                    <a:lstStyle/>
                    <a:p>
                      <a:r>
                        <a:rPr lang="en-US" sz="700"/>
                        <a:t>2025</a:t>
                      </a:r>
                    </a:p>
                  </a:txBody>
                  <a:tcPr marL="46375" marR="46375" marT="23188" marB="23188" anchor="ctr"/>
                </a:tc>
                <a:tc>
                  <a:txBody>
                    <a:bodyPr/>
                    <a:lstStyle/>
                    <a:p>
                      <a:r>
                        <a:rPr lang="en-US" sz="700"/>
                        <a:t>Review of telehealth and digital care models</a:t>
                      </a:r>
                    </a:p>
                  </a:txBody>
                  <a:tcPr marL="46375" marR="46375" marT="23188" marB="23188" anchor="ctr"/>
                </a:tc>
                <a:tc>
                  <a:txBody>
                    <a:bodyPr/>
                    <a:lstStyle/>
                    <a:p>
                      <a:r>
                        <a:rPr lang="en-US" sz="700"/>
                        <a:t>Improves patient engagement</a:t>
                      </a:r>
                    </a:p>
                  </a:txBody>
                  <a:tcPr marL="46375" marR="46375" marT="23188" marB="23188" anchor="ctr"/>
                </a:tc>
                <a:tc>
                  <a:txBody>
                    <a:bodyPr/>
                    <a:lstStyle/>
                    <a:p>
                      <a:r>
                        <a:rPr lang="en-US" sz="700"/>
                        <a:t>Focuses on healthcare, not pharmacy operations</a:t>
                      </a:r>
                    </a:p>
                  </a:txBody>
                  <a:tcPr marL="46375" marR="46375" marT="23188" marB="23188" anchor="ctr"/>
                </a:tc>
                <a:extLst>
                  <a:ext uri="{0D108BD9-81ED-4DB2-BD59-A6C34878D82A}">
                    <a16:rowId xmlns:a16="http://schemas.microsoft.com/office/drawing/2014/main" val="10004"/>
                  </a:ext>
                </a:extLst>
              </a:tr>
              <a:tr h="728570">
                <a:tc>
                  <a:txBody>
                    <a:bodyPr/>
                    <a:lstStyle/>
                    <a:p>
                      <a:r>
                        <a:rPr lang="en-US" sz="700"/>
                        <a:t>10</a:t>
                      </a:r>
                    </a:p>
                  </a:txBody>
                  <a:tcPr marL="46375" marR="46375" marT="23188" marB="23188" anchor="ctr"/>
                </a:tc>
                <a:tc>
                  <a:txBody>
                    <a:bodyPr/>
                    <a:lstStyle/>
                    <a:p>
                      <a:r>
                        <a:rPr lang="en-US" sz="700"/>
                        <a:t>Digital Health Literacy to Reduce Antibiotic Misuse</a:t>
                      </a:r>
                    </a:p>
                  </a:txBody>
                  <a:tcPr marL="46375" marR="46375" marT="23188" marB="23188" anchor="ctr"/>
                </a:tc>
                <a:tc>
                  <a:txBody>
                    <a:bodyPr/>
                    <a:lstStyle/>
                    <a:p>
                      <a:r>
                        <a:rPr lang="en-US" sz="700"/>
                        <a:t>Lawal, O., et al.</a:t>
                      </a:r>
                    </a:p>
                  </a:txBody>
                  <a:tcPr marL="46375" marR="46375" marT="23188" marB="23188" anchor="ctr"/>
                </a:tc>
                <a:tc>
                  <a:txBody>
                    <a:bodyPr/>
                    <a:lstStyle/>
                    <a:p>
                      <a:r>
                        <a:rPr lang="en-US" sz="700"/>
                        <a:t>2025</a:t>
                      </a:r>
                    </a:p>
                  </a:txBody>
                  <a:tcPr marL="46375" marR="46375" marT="23188" marB="23188" anchor="ctr"/>
                </a:tc>
                <a:tc>
                  <a:txBody>
                    <a:bodyPr/>
                    <a:lstStyle/>
                    <a:p>
                      <a:r>
                        <a:rPr lang="en-US" sz="700"/>
                        <a:t>Analysis of digital education platforms</a:t>
                      </a:r>
                    </a:p>
                  </a:txBody>
                  <a:tcPr marL="46375" marR="46375" marT="23188" marB="23188" anchor="ctr"/>
                </a:tc>
                <a:tc>
                  <a:txBody>
                    <a:bodyPr/>
                    <a:lstStyle/>
                    <a:p>
                      <a:r>
                        <a:rPr lang="en-US" sz="700"/>
                        <a:t>Supports public health awareness</a:t>
                      </a:r>
                    </a:p>
                  </a:txBody>
                  <a:tcPr marL="46375" marR="46375" marT="23188" marB="23188" anchor="ctr"/>
                </a:tc>
                <a:tc>
                  <a:txBody>
                    <a:bodyPr/>
                    <a:lstStyle/>
                    <a:p>
                      <a:r>
                        <a:rPr lang="en-US" sz="700" dirty="0"/>
                        <a:t>No automation or system-level implementation</a:t>
                      </a:r>
                    </a:p>
                  </a:txBody>
                  <a:tcPr marL="46375" marR="46375" marT="23188" marB="23188"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5. IDEA FORMULATION FROM LITERATURE REVIEW</a:t>
            </a:r>
            <a:endParaRPr dirty="0"/>
          </a:p>
        </p:txBody>
      </p:sp>
      <p:sp>
        <p:nvSpPr>
          <p:cNvPr id="96" name="Google Shape;96;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114300" indent="0">
              <a:buNone/>
            </a:pPr>
            <a:r>
              <a:rPr lang="en-US" dirty="0">
                <a:latin typeface="Times New Roman" panose="02020603050405020304" pitchFamily="18" charset="0"/>
                <a:cs typeface="Times New Roman" panose="02020603050405020304" pitchFamily="18" charset="0"/>
              </a:rPr>
              <a:t>• Existing studies highlight the need for intelligent automation beyond rule-based pharmacy systems.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Literature reveals a lack of integrated solutions combining OCR, inventory control, and forecasting.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Identified gaps motivate the use of machine learning for demand prediction and decision support.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Absence of real-time customer interaction systems leads to poor service efficiency.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Pharmacy-specific </a:t>
            </a:r>
            <a:r>
              <a:rPr lang="en-US" dirty="0" err="1">
                <a:latin typeface="Times New Roman" panose="02020603050405020304" pitchFamily="18" charset="0"/>
                <a:cs typeface="Times New Roman" panose="02020603050405020304" pitchFamily="18" charset="0"/>
              </a:rPr>
              <a:t>chatbots</a:t>
            </a:r>
            <a:r>
              <a:rPr lang="en-US" dirty="0">
                <a:latin typeface="Times New Roman" panose="02020603050405020304" pitchFamily="18" charset="0"/>
                <a:cs typeface="Times New Roman" panose="02020603050405020304" pitchFamily="18" charset="0"/>
              </a:rPr>
              <a:t> can enhance accessibility and user assistance.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These insights led to the design of an integrated, AI-driven digital pharmacy management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6. ABSTRACT</a:t>
            </a:r>
            <a:endParaRPr dirty="0"/>
          </a:p>
        </p:txBody>
      </p:sp>
      <p:sp>
        <p:nvSpPr>
          <p:cNvPr id="102" name="Google Shape;10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dirty="0"/>
              <a:t>The Digital Pharmacy Management System is designed to automate prescription processing, streamline inventory management, and support data-driven pharmacy operations. The system utilizes OCR-based extraction to accurately interpret prescriptions, real-time inventory updates to monitor stock levels, and machine learning techniques to forecast medicine demand. Additionally, a pharmacy-specific </a:t>
            </a:r>
            <a:r>
              <a:rPr lang="en-US" dirty="0" err="1"/>
              <a:t>chatbot</a:t>
            </a:r>
            <a:r>
              <a:rPr lang="en-US" dirty="0"/>
              <a:t> assists users with medicine-related queries, while analytical dashboards help pharmacists track sales trends and operational efficiency. By digitizing traditional workflows, the system minimizes human errors, reduces medicine shortages and wastage, and enhances service accuracy, accessibility, and reliability in modern pharmacy environments.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FLOWCHART</a:t>
            </a:r>
            <a:endParaRPr/>
          </a:p>
        </p:txBody>
      </p:sp>
      <p:sp>
        <p:nvSpPr>
          <p:cNvPr id="108" name="Google Shape;108;p22"/>
          <p:cNvSpPr txBox="1">
            <a:spLocks noGrp="1"/>
          </p:cNvSpPr>
          <p:nvPr>
            <p:ph type="body" idx="1"/>
          </p:nvPr>
        </p:nvSpPr>
        <p:spPr>
          <a:xfrm>
            <a:off x="311700" y="1152475"/>
            <a:ext cx="3131100" cy="3416400"/>
          </a:xfrm>
          <a:prstGeom prst="rect">
            <a:avLst/>
          </a:prstGeom>
        </p:spPr>
        <p:txBody>
          <a:bodyPr spcFirstLastPara="1" wrap="square" lIns="91425" tIns="91425" rIns="91425" bIns="91425" anchor="t" anchorCtr="0">
            <a:normAutofit fontScale="92500" lnSpcReduction="10000"/>
          </a:bodyPr>
          <a:lstStyle/>
          <a:p>
            <a:pPr marL="114300" indent="0">
              <a:buNone/>
            </a:pPr>
            <a:r>
              <a:rPr lang="en-US" dirty="0"/>
              <a:t>• User uploads prescription through the system interface.</a:t>
            </a:r>
            <a:br>
              <a:rPr lang="en-US" dirty="0"/>
            </a:br>
            <a:r>
              <a:rPr lang="en-US" dirty="0"/>
              <a:t>• OCR extracts medicine details and validates data using AI.</a:t>
            </a:r>
            <a:br>
              <a:rPr lang="en-US" dirty="0"/>
            </a:br>
            <a:r>
              <a:rPr lang="en-US" dirty="0"/>
              <a:t>• Inventory is updated and demand forecasting is performed.</a:t>
            </a:r>
            <a:br>
              <a:rPr lang="en-US" dirty="0"/>
            </a:br>
            <a:r>
              <a:rPr lang="en-US" dirty="0"/>
              <a:t>• Pharmacist reviews results and completes medicine dispensing.</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8911" y="298174"/>
            <a:ext cx="1593501" cy="45620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SYSTEM ARCHITECTURE</a:t>
            </a:r>
            <a:endParaRPr/>
          </a:p>
        </p:txBody>
      </p:sp>
      <p:sp>
        <p:nvSpPr>
          <p:cNvPr id="115" name="Google Shape;115;p23"/>
          <p:cNvSpPr txBox="1">
            <a:spLocks noGrp="1"/>
          </p:cNvSpPr>
          <p:nvPr>
            <p:ph type="body" idx="1"/>
          </p:nvPr>
        </p:nvSpPr>
        <p:spPr>
          <a:xfrm>
            <a:off x="311700" y="1152475"/>
            <a:ext cx="4155300" cy="3416400"/>
          </a:xfrm>
          <a:prstGeom prst="rect">
            <a:avLst/>
          </a:prstGeom>
        </p:spPr>
        <p:txBody>
          <a:bodyPr spcFirstLastPara="1" wrap="square" lIns="91425" tIns="91425" rIns="91425" bIns="91425" anchor="t" anchorCtr="0">
            <a:normAutofit fontScale="92500"/>
          </a:bodyPr>
          <a:lstStyle/>
          <a:p>
            <a:pPr marL="0" lvl="0" indent="0">
              <a:spcAft>
                <a:spcPts val="1200"/>
              </a:spcAft>
              <a:buNone/>
            </a:pPr>
            <a:r>
              <a:rPr lang="en-US" dirty="0"/>
              <a:t>• User interacts with the system through a web-based pharmacy interface.</a:t>
            </a:r>
            <a:br>
              <a:rPr lang="en-US" dirty="0"/>
            </a:br>
            <a:r>
              <a:rPr lang="en-US" dirty="0"/>
              <a:t>• Prescription images are processed using OCR and AI modules for data extraction.</a:t>
            </a:r>
            <a:br>
              <a:rPr lang="en-US" dirty="0"/>
            </a:br>
            <a:r>
              <a:rPr lang="en-US" dirty="0"/>
              <a:t>• Backend services manage inventory, forecasting, </a:t>
            </a:r>
            <a:r>
              <a:rPr lang="en-US" dirty="0" err="1"/>
              <a:t>chatbot</a:t>
            </a:r>
            <a:r>
              <a:rPr lang="en-US" dirty="0"/>
              <a:t>, and analytics.</a:t>
            </a:r>
            <a:br>
              <a:rPr lang="en-US" dirty="0"/>
            </a:br>
            <a:r>
              <a:rPr lang="en-US" dirty="0"/>
              <a:t>• Database and cloud services store prescriptions, stock, sales, and reports securely.</a:t>
            </a: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9382" y="188843"/>
            <a:ext cx="2693504" cy="45683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1EFFF5-14E1-B2A7-8DFE-8739A2C7A71E}"/>
              </a:ext>
            </a:extLst>
          </p:cNvPr>
          <p:cNvPicPr>
            <a:picLocks noChangeAspect="1"/>
          </p:cNvPicPr>
          <p:nvPr/>
        </p:nvPicPr>
        <p:blipFill>
          <a:blip r:embed="rId2"/>
          <a:stretch>
            <a:fillRect/>
          </a:stretch>
        </p:blipFill>
        <p:spPr>
          <a:xfrm>
            <a:off x="386576" y="1704046"/>
            <a:ext cx="8504676" cy="2042763"/>
          </a:xfrm>
          <a:prstGeom prst="rect">
            <a:avLst/>
          </a:prstGeom>
        </p:spPr>
      </p:pic>
    </p:spTree>
    <p:extLst>
      <p:ext uri="{BB962C8B-B14F-4D97-AF65-F5344CB8AC3E}">
        <p14:creationId xmlns:p14="http://schemas.microsoft.com/office/powerpoint/2010/main" val="1642600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FFD7-4324-82C7-0A8F-8503BD48F00C}"/>
              </a:ext>
            </a:extLst>
          </p:cNvPr>
          <p:cNvSpPr>
            <a:spLocks noGrp="1"/>
          </p:cNvSpPr>
          <p:nvPr>
            <p:ph type="title"/>
          </p:nvPr>
        </p:nvSpPr>
        <p:spPr/>
        <p:txBody>
          <a:bodyPr>
            <a:normAutofit fontScale="90000"/>
          </a:bodyPr>
          <a:lstStyle/>
          <a:p>
            <a:r>
              <a:rPr lang="en-IN" b="1" dirty="0"/>
              <a:t>Database — 4 Tables</a:t>
            </a:r>
            <a:br>
              <a:rPr lang="en-IN" b="1" dirty="0"/>
            </a:br>
            <a:endParaRPr lang="en-IN" dirty="0"/>
          </a:p>
        </p:txBody>
      </p:sp>
      <p:sp>
        <p:nvSpPr>
          <p:cNvPr id="3" name="Text Placeholder 2">
            <a:extLst>
              <a:ext uri="{FF2B5EF4-FFF2-40B4-BE49-F238E27FC236}">
                <a16:creationId xmlns:a16="http://schemas.microsoft.com/office/drawing/2014/main" id="{EAB076E7-DDD9-D833-3C6C-B42A99C339D6}"/>
              </a:ext>
            </a:extLst>
          </p:cNvPr>
          <p:cNvSpPr>
            <a:spLocks noGrp="1"/>
          </p:cNvSpPr>
          <p:nvPr>
            <p:ph type="body" idx="1"/>
          </p:nvPr>
        </p:nvSpPr>
        <p:spPr/>
        <p:txBody>
          <a:bodyPr/>
          <a:lstStyle/>
          <a:p>
            <a:r>
              <a:rPr lang="en-IN" b="1" dirty="0"/>
              <a:t>users</a:t>
            </a:r>
            <a:r>
              <a:rPr lang="en-IN" dirty="0"/>
              <a:t> — stores username, </a:t>
            </a:r>
            <a:r>
              <a:rPr lang="en-IN" dirty="0" err="1"/>
              <a:t>bcrypt</a:t>
            </a:r>
            <a:r>
              <a:rPr lang="en-IN" dirty="0"/>
              <a:t>-hashed password, and role (ADMIN or PHARMACIST)</a:t>
            </a:r>
          </a:p>
          <a:p>
            <a:r>
              <a:rPr lang="en-IN" b="1" dirty="0"/>
              <a:t>medicines</a:t>
            </a:r>
            <a:r>
              <a:rPr lang="en-IN" dirty="0"/>
              <a:t> — the inventory </a:t>
            </a:r>
            <a:r>
              <a:rPr lang="en-IN" dirty="0" err="1"/>
              <a:t>catalog</a:t>
            </a:r>
            <a:r>
              <a:rPr lang="en-IN" dirty="0"/>
              <a:t>. Stores name, manufacturer, batch number, expiry date, quantity, price, description</a:t>
            </a:r>
          </a:p>
          <a:p>
            <a:r>
              <a:rPr lang="en-IN" b="1" dirty="0"/>
              <a:t>sales</a:t>
            </a:r>
            <a:r>
              <a:rPr lang="en-IN" dirty="0"/>
              <a:t> — every transaction. Linked to medicines via foreign key. Stores quantity sold, sale date, total price</a:t>
            </a:r>
          </a:p>
          <a:p>
            <a:r>
              <a:rPr lang="en-IN" b="1" dirty="0"/>
              <a:t>prescriptions</a:t>
            </a:r>
            <a:r>
              <a:rPr lang="en-IN" dirty="0"/>
              <a:t> — uploaded prescription records. Stores the image path, the AI-extracted data as JSONB, and a status (Pending/Processed)</a:t>
            </a:r>
          </a:p>
          <a:p>
            <a:endParaRPr lang="en-IN" dirty="0"/>
          </a:p>
        </p:txBody>
      </p:sp>
    </p:spTree>
    <p:extLst>
      <p:ext uri="{BB962C8B-B14F-4D97-AF65-F5344CB8AC3E}">
        <p14:creationId xmlns:p14="http://schemas.microsoft.com/office/powerpoint/2010/main" val="2803357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85F74-C467-F203-04FE-64344888F1A9}"/>
              </a:ext>
            </a:extLst>
          </p:cNvPr>
          <p:cNvSpPr>
            <a:spLocks noGrp="1"/>
          </p:cNvSpPr>
          <p:nvPr>
            <p:ph type="title"/>
          </p:nvPr>
        </p:nvSpPr>
        <p:spPr>
          <a:xfrm>
            <a:off x="386041" y="437591"/>
            <a:ext cx="8520600" cy="572700"/>
          </a:xfrm>
        </p:spPr>
        <p:txBody>
          <a:bodyPr>
            <a:normAutofit fontScale="90000"/>
          </a:bodyPr>
          <a:lstStyle/>
          <a:p>
            <a:r>
              <a:rPr lang="en-IN" b="1" dirty="0"/>
              <a:t>Features</a:t>
            </a:r>
            <a:br>
              <a:rPr lang="en-IN" b="1" dirty="0"/>
            </a:br>
            <a:r>
              <a:rPr lang="en-US" sz="2200" b="1" dirty="0"/>
              <a:t>1</a:t>
            </a:r>
            <a:r>
              <a:rPr lang="en-US" b="1" dirty="0"/>
              <a:t>. </a:t>
            </a:r>
            <a:r>
              <a:rPr lang="en-US" sz="2200" b="1" dirty="0"/>
              <a:t>Authentication</a:t>
            </a:r>
            <a:br>
              <a:rPr lang="en-US" b="1" dirty="0"/>
            </a:br>
            <a:br>
              <a:rPr lang="en-IN" b="1" dirty="0"/>
            </a:br>
            <a:endParaRPr lang="en-IN" dirty="0"/>
          </a:p>
        </p:txBody>
      </p:sp>
      <p:sp>
        <p:nvSpPr>
          <p:cNvPr id="3" name="Text Placeholder 2">
            <a:extLst>
              <a:ext uri="{FF2B5EF4-FFF2-40B4-BE49-F238E27FC236}">
                <a16:creationId xmlns:a16="http://schemas.microsoft.com/office/drawing/2014/main" id="{0854F1F5-679E-0BF5-490D-62B945B58085}"/>
              </a:ext>
            </a:extLst>
          </p:cNvPr>
          <p:cNvSpPr>
            <a:spLocks noGrp="1"/>
          </p:cNvSpPr>
          <p:nvPr>
            <p:ph type="body" idx="1"/>
          </p:nvPr>
        </p:nvSpPr>
        <p:spPr>
          <a:xfrm>
            <a:off x="229924" y="1397801"/>
            <a:ext cx="8520600" cy="3416400"/>
          </a:xfrm>
        </p:spPr>
        <p:txBody>
          <a:bodyPr/>
          <a:lstStyle/>
          <a:p>
            <a:r>
              <a:rPr lang="en-US" dirty="0"/>
              <a:t>When a user logs in, the backend checks the username, compares the password using </a:t>
            </a:r>
            <a:r>
              <a:rPr lang="en-US" dirty="0" err="1"/>
              <a:t>bcrypt</a:t>
            </a:r>
            <a:r>
              <a:rPr lang="en-US" dirty="0"/>
              <a:t>, and if valid, returns a </a:t>
            </a:r>
            <a:r>
              <a:rPr lang="en-US" b="1" dirty="0"/>
              <a:t>JWT token</a:t>
            </a:r>
            <a:r>
              <a:rPr lang="en-US" dirty="0"/>
              <a:t> that expires in 24 hours. Every subsequent API call includes this token. The </a:t>
            </a:r>
            <a:r>
              <a:rPr lang="en-US" dirty="0" err="1"/>
              <a:t>authMiddleware</a:t>
            </a:r>
            <a:r>
              <a:rPr lang="en-US" dirty="0"/>
              <a:t> extracts and verifies it. There's also an authorize() function that checks the user's role — so an ADMIN and a PHARMACIST get different access levels.</a:t>
            </a:r>
          </a:p>
          <a:p>
            <a:r>
              <a:rPr lang="en-US" b="1" dirty="0"/>
              <a:t>ADMIN</a:t>
            </a:r>
            <a:r>
              <a:rPr lang="en-US" dirty="0"/>
              <a:t> → full CRUD on everything </a:t>
            </a:r>
            <a:r>
              <a:rPr lang="en-US" b="1" dirty="0"/>
              <a:t>PHARMACIST</a:t>
            </a:r>
            <a:r>
              <a:rPr lang="en-US" dirty="0"/>
              <a:t> → can view inventory and process prescriptions, but cannot add/edit/delete medicines</a:t>
            </a:r>
          </a:p>
          <a:p>
            <a:endParaRPr lang="en-IN" dirty="0"/>
          </a:p>
        </p:txBody>
      </p:sp>
    </p:spTree>
    <p:extLst>
      <p:ext uri="{BB962C8B-B14F-4D97-AF65-F5344CB8AC3E}">
        <p14:creationId xmlns:p14="http://schemas.microsoft.com/office/powerpoint/2010/main" val="786769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F6010-6BE3-D130-2E9A-33DAD72A3183}"/>
              </a:ext>
            </a:extLst>
          </p:cNvPr>
          <p:cNvSpPr>
            <a:spLocks noGrp="1"/>
          </p:cNvSpPr>
          <p:nvPr>
            <p:ph type="title"/>
          </p:nvPr>
        </p:nvSpPr>
        <p:spPr/>
        <p:txBody>
          <a:bodyPr>
            <a:normAutofit fontScale="90000"/>
          </a:bodyPr>
          <a:lstStyle/>
          <a:p>
            <a:r>
              <a:rPr lang="en-US" b="1" dirty="0"/>
              <a:t>2. Inventory Management</a:t>
            </a:r>
            <a:br>
              <a:rPr lang="en-US" b="1" dirty="0"/>
            </a:br>
            <a:endParaRPr lang="en-IN" dirty="0"/>
          </a:p>
        </p:txBody>
      </p:sp>
      <p:sp>
        <p:nvSpPr>
          <p:cNvPr id="3" name="Text Placeholder 2">
            <a:extLst>
              <a:ext uri="{FF2B5EF4-FFF2-40B4-BE49-F238E27FC236}">
                <a16:creationId xmlns:a16="http://schemas.microsoft.com/office/drawing/2014/main" id="{93B5FBA3-69D1-1D60-54CF-A5AFE877F762}"/>
              </a:ext>
            </a:extLst>
          </p:cNvPr>
          <p:cNvSpPr>
            <a:spLocks noGrp="1"/>
          </p:cNvSpPr>
          <p:nvPr>
            <p:ph type="body" idx="1"/>
          </p:nvPr>
        </p:nvSpPr>
        <p:spPr/>
        <p:txBody>
          <a:bodyPr>
            <a:normAutofit fontScale="85000" lnSpcReduction="10000"/>
          </a:bodyPr>
          <a:lstStyle/>
          <a:p>
            <a:r>
              <a:rPr lang="en-US" dirty="0"/>
              <a:t>This is the core module. The inventory page shows all medicines in a table. If you're an Admin, you see buttons to Add, Edit, Delete. If you're a Pharmacist, you see a "View-Only Access" banner — the add/edit/delete buttons don't even render.</a:t>
            </a:r>
          </a:p>
          <a:p>
            <a:r>
              <a:rPr lang="en-US" dirty="0"/>
              <a:t>There's also </a:t>
            </a:r>
            <a:r>
              <a:rPr lang="en-US" b="1" dirty="0"/>
              <a:t>CSV bulk import</a:t>
            </a:r>
            <a:r>
              <a:rPr lang="en-US" dirty="0"/>
              <a:t> — an admin can upload a CSV file with multiple medicines and they all get added in one shot. The column headers are matched case-insensitively so the format is flexible.</a:t>
            </a:r>
          </a:p>
          <a:p>
            <a:r>
              <a:rPr lang="en-US" dirty="0"/>
              <a:t>The backend has 6 endpoints for this:</a:t>
            </a:r>
          </a:p>
          <a:p>
            <a:r>
              <a:rPr lang="en-US" dirty="0"/>
              <a:t>GET all medicines</a:t>
            </a:r>
          </a:p>
          <a:p>
            <a:r>
              <a:rPr lang="en-US" dirty="0"/>
              <a:t>GET one medicine by ID</a:t>
            </a:r>
          </a:p>
          <a:p>
            <a:r>
              <a:rPr lang="en-US" dirty="0"/>
              <a:t>POST to create</a:t>
            </a:r>
          </a:p>
          <a:p>
            <a:r>
              <a:rPr lang="en-US" dirty="0"/>
              <a:t>PUT to update</a:t>
            </a:r>
          </a:p>
          <a:p>
            <a:r>
              <a:rPr lang="en-US" dirty="0"/>
              <a:t>DELETE to remove</a:t>
            </a:r>
          </a:p>
          <a:p>
            <a:r>
              <a:rPr lang="en-US" dirty="0"/>
              <a:t>POST /import for CSV upload</a:t>
            </a:r>
          </a:p>
          <a:p>
            <a:endParaRPr lang="en-IN" dirty="0"/>
          </a:p>
        </p:txBody>
      </p:sp>
    </p:spTree>
    <p:extLst>
      <p:ext uri="{BB962C8B-B14F-4D97-AF65-F5344CB8AC3E}">
        <p14:creationId xmlns:p14="http://schemas.microsoft.com/office/powerpoint/2010/main" val="2399527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11B6A-18A1-E711-211B-CB0868A8D301}"/>
              </a:ext>
            </a:extLst>
          </p:cNvPr>
          <p:cNvSpPr>
            <a:spLocks noGrp="1"/>
          </p:cNvSpPr>
          <p:nvPr>
            <p:ph type="title"/>
          </p:nvPr>
        </p:nvSpPr>
        <p:spPr/>
        <p:txBody>
          <a:bodyPr>
            <a:normAutofit fontScale="90000"/>
          </a:bodyPr>
          <a:lstStyle/>
          <a:p>
            <a:r>
              <a:rPr lang="en-IN" b="1" dirty="0"/>
              <a:t>3. Sales &amp; Billing</a:t>
            </a:r>
            <a:br>
              <a:rPr lang="en-IN" b="1" dirty="0"/>
            </a:br>
            <a:endParaRPr lang="en-IN" dirty="0"/>
          </a:p>
        </p:txBody>
      </p:sp>
      <p:sp>
        <p:nvSpPr>
          <p:cNvPr id="3" name="Text Placeholder 2">
            <a:extLst>
              <a:ext uri="{FF2B5EF4-FFF2-40B4-BE49-F238E27FC236}">
                <a16:creationId xmlns:a16="http://schemas.microsoft.com/office/drawing/2014/main" id="{8A6763DC-5F92-6C8F-DC2A-998B56D21F40}"/>
              </a:ext>
            </a:extLst>
          </p:cNvPr>
          <p:cNvSpPr>
            <a:spLocks noGrp="1"/>
          </p:cNvSpPr>
          <p:nvPr>
            <p:ph type="body" idx="1"/>
          </p:nvPr>
        </p:nvSpPr>
        <p:spPr/>
        <p:txBody>
          <a:bodyPr/>
          <a:lstStyle/>
          <a:p>
            <a:r>
              <a:rPr lang="en-US" dirty="0"/>
              <a:t>The Sales page has two sections.</a:t>
            </a:r>
          </a:p>
          <a:p>
            <a:r>
              <a:rPr lang="en-US" b="1" dirty="0"/>
              <a:t>Point of Sale</a:t>
            </a:r>
            <a:r>
              <a:rPr lang="en-US" dirty="0"/>
              <a:t> — you search for a medicine by name or ID, it auto-fills the price, you enter the quantity, and hit record. The backend doesn't just save the sale — it also </a:t>
            </a:r>
            <a:r>
              <a:rPr lang="en-US" b="1" dirty="0"/>
              <a:t>automatically deducts the quantity from inventory</a:t>
            </a:r>
            <a:r>
              <a:rPr lang="en-US" dirty="0"/>
              <a:t>. So stock is always accurate after every sale.</a:t>
            </a:r>
          </a:p>
          <a:p>
            <a:r>
              <a:rPr lang="en-US" b="1" dirty="0"/>
              <a:t>Demand Forecast</a:t>
            </a:r>
            <a:r>
              <a:rPr lang="en-US" dirty="0"/>
              <a:t> — you pick a medicine, and the system pulls its sales history and runs a </a:t>
            </a:r>
            <a:r>
              <a:rPr lang="en-US" b="1" dirty="0"/>
              <a:t>linear regression</a:t>
            </a:r>
            <a:r>
              <a:rPr lang="en-US" dirty="0"/>
              <a:t> to predict the next 7 days of demand. This is displayed as a line chart with historical data and a forecast line. This is the ML component of the project.</a:t>
            </a:r>
          </a:p>
          <a:p>
            <a:endParaRPr lang="en-IN" dirty="0"/>
          </a:p>
        </p:txBody>
      </p:sp>
    </p:spTree>
    <p:extLst>
      <p:ext uri="{BB962C8B-B14F-4D97-AF65-F5344CB8AC3E}">
        <p14:creationId xmlns:p14="http://schemas.microsoft.com/office/powerpoint/2010/main" val="7895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4E49F-5A69-68A9-AC3D-476D2DB43C54}"/>
              </a:ext>
            </a:extLst>
          </p:cNvPr>
          <p:cNvSpPr>
            <a:spLocks noGrp="1"/>
          </p:cNvSpPr>
          <p:nvPr>
            <p:ph type="title"/>
          </p:nvPr>
        </p:nvSpPr>
        <p:spPr/>
        <p:txBody>
          <a:bodyPr>
            <a:normAutofit fontScale="90000"/>
          </a:bodyPr>
          <a:lstStyle/>
          <a:p>
            <a:r>
              <a:rPr lang="en-IN" dirty="0"/>
              <a:t>4. AI Prescription Processing </a:t>
            </a:r>
          </a:p>
        </p:txBody>
      </p:sp>
      <p:sp>
        <p:nvSpPr>
          <p:cNvPr id="3" name="Text Placeholder 2">
            <a:extLst>
              <a:ext uri="{FF2B5EF4-FFF2-40B4-BE49-F238E27FC236}">
                <a16:creationId xmlns:a16="http://schemas.microsoft.com/office/drawing/2014/main" id="{EFC38C7F-53D6-AB05-56CE-E15BA6EF41D2}"/>
              </a:ext>
            </a:extLst>
          </p:cNvPr>
          <p:cNvSpPr>
            <a:spLocks noGrp="1"/>
          </p:cNvSpPr>
          <p:nvPr>
            <p:ph type="body" idx="1"/>
          </p:nvPr>
        </p:nvSpPr>
        <p:spPr/>
        <p:txBody>
          <a:bodyPr>
            <a:normAutofit lnSpcReduction="10000"/>
          </a:bodyPr>
          <a:lstStyle/>
          <a:p>
            <a:r>
              <a:rPr lang="en-US" dirty="0"/>
              <a:t>This is the most technically impressive feature. A pharmacist uploads a prescription image or PDF. The backend receives it via Multer, converts it to base64, and sends it to the </a:t>
            </a:r>
            <a:r>
              <a:rPr lang="en-US" b="1" dirty="0"/>
              <a:t>Google Gemini Vision API</a:t>
            </a:r>
            <a:r>
              <a:rPr lang="en-US" dirty="0"/>
              <a:t> with a prompt asking it to extract the patient name, list of medicines, and dosages.</a:t>
            </a:r>
          </a:p>
          <a:p>
            <a:r>
              <a:rPr lang="en-US" dirty="0"/>
              <a:t>Gemini returns structured JSON. That JSON gets saved in the prescriptions table in a JSONB column. The status is set to </a:t>
            </a:r>
            <a:r>
              <a:rPr lang="en-US" b="1" dirty="0"/>
              <a:t>Processed</a:t>
            </a:r>
            <a:r>
              <a:rPr lang="en-US" dirty="0"/>
              <a:t>. If Gemini fails for any reason, the status stays </a:t>
            </a:r>
            <a:r>
              <a:rPr lang="en-US" b="1" dirty="0"/>
              <a:t>Pending</a:t>
            </a:r>
            <a:r>
              <a:rPr lang="en-US" dirty="0"/>
              <a:t> and the error is noted.</a:t>
            </a:r>
          </a:p>
          <a:p>
            <a:r>
              <a:rPr lang="en-US" dirty="0"/>
              <a:t>On the frontend, the pharmacist can see all uploaded prescriptions, click on any one, and see the extracted data in a formatted panel — patient name, medicines, dosages — all pulled automatically from the image without manual typing.</a:t>
            </a:r>
          </a:p>
          <a:p>
            <a:endParaRPr lang="en-IN" dirty="0"/>
          </a:p>
        </p:txBody>
      </p:sp>
    </p:spTree>
    <p:extLst>
      <p:ext uri="{BB962C8B-B14F-4D97-AF65-F5344CB8AC3E}">
        <p14:creationId xmlns:p14="http://schemas.microsoft.com/office/powerpoint/2010/main" val="2163612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A95B1-2E7C-4820-1ABA-D80DCC78486E}"/>
              </a:ext>
            </a:extLst>
          </p:cNvPr>
          <p:cNvSpPr>
            <a:spLocks noGrp="1"/>
          </p:cNvSpPr>
          <p:nvPr>
            <p:ph type="title"/>
          </p:nvPr>
        </p:nvSpPr>
        <p:spPr/>
        <p:txBody>
          <a:bodyPr>
            <a:normAutofit fontScale="90000"/>
          </a:bodyPr>
          <a:lstStyle/>
          <a:p>
            <a:r>
              <a:rPr lang="en-IN" b="1" dirty="0"/>
              <a:t>5. AI Chat Assistant</a:t>
            </a:r>
            <a:br>
              <a:rPr lang="en-IN" b="1" dirty="0"/>
            </a:br>
            <a:endParaRPr lang="en-IN" dirty="0"/>
          </a:p>
        </p:txBody>
      </p:sp>
      <p:sp>
        <p:nvSpPr>
          <p:cNvPr id="3" name="Text Placeholder 2">
            <a:extLst>
              <a:ext uri="{FF2B5EF4-FFF2-40B4-BE49-F238E27FC236}">
                <a16:creationId xmlns:a16="http://schemas.microsoft.com/office/drawing/2014/main" id="{8A08E891-5FBE-B4C8-5041-C9636BD42FCB}"/>
              </a:ext>
            </a:extLst>
          </p:cNvPr>
          <p:cNvSpPr>
            <a:spLocks noGrp="1"/>
          </p:cNvSpPr>
          <p:nvPr>
            <p:ph type="body" idx="1"/>
          </p:nvPr>
        </p:nvSpPr>
        <p:spPr/>
        <p:txBody>
          <a:bodyPr/>
          <a:lstStyle/>
          <a:p>
            <a:r>
              <a:rPr lang="en-US" dirty="0"/>
              <a:t>There's a chat page where any logged-in user can ask questions. The backend calls Gemini with the user's message — but crucially, it </a:t>
            </a:r>
            <a:r>
              <a:rPr lang="en-US" b="1" dirty="0"/>
              <a:t>injects the live inventory data into the prompt context</a:t>
            </a:r>
            <a:r>
              <a:rPr lang="en-US" dirty="0"/>
              <a:t>. So the AI can answer questions like "What's the price of Paracetamol?" or "Which medicines are low on stock?" with real, current data. Responses are rendered in Markdown.</a:t>
            </a:r>
          </a:p>
          <a:p>
            <a:endParaRPr lang="en-IN" dirty="0"/>
          </a:p>
        </p:txBody>
      </p:sp>
    </p:spTree>
    <p:extLst>
      <p:ext uri="{BB962C8B-B14F-4D97-AF65-F5344CB8AC3E}">
        <p14:creationId xmlns:p14="http://schemas.microsoft.com/office/powerpoint/2010/main" val="924455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51429-D2FC-87CB-35A8-48FD52C42F53}"/>
              </a:ext>
            </a:extLst>
          </p:cNvPr>
          <p:cNvSpPr>
            <a:spLocks noGrp="1"/>
          </p:cNvSpPr>
          <p:nvPr>
            <p:ph type="title"/>
          </p:nvPr>
        </p:nvSpPr>
        <p:spPr/>
        <p:txBody>
          <a:bodyPr>
            <a:normAutofit fontScale="90000"/>
          </a:bodyPr>
          <a:lstStyle/>
          <a:p>
            <a:r>
              <a:rPr lang="en-IN" b="1" dirty="0"/>
              <a:t>6. Dashboard</a:t>
            </a:r>
            <a:br>
              <a:rPr lang="en-IN" b="1" dirty="0"/>
            </a:br>
            <a:endParaRPr lang="en-IN" dirty="0"/>
          </a:p>
        </p:txBody>
      </p:sp>
      <p:sp>
        <p:nvSpPr>
          <p:cNvPr id="3" name="Text Placeholder 2">
            <a:extLst>
              <a:ext uri="{FF2B5EF4-FFF2-40B4-BE49-F238E27FC236}">
                <a16:creationId xmlns:a16="http://schemas.microsoft.com/office/drawing/2014/main" id="{CAD83BC5-92EC-E4E7-7850-DFA6470B4C53}"/>
              </a:ext>
            </a:extLst>
          </p:cNvPr>
          <p:cNvSpPr>
            <a:spLocks noGrp="1"/>
          </p:cNvSpPr>
          <p:nvPr>
            <p:ph type="body" idx="1"/>
          </p:nvPr>
        </p:nvSpPr>
        <p:spPr/>
        <p:txBody>
          <a:bodyPr/>
          <a:lstStyle/>
          <a:p>
            <a:r>
              <a:rPr lang="en-US" dirty="0"/>
              <a:t>The landing page after login. Shows three stat cards:</a:t>
            </a:r>
          </a:p>
          <a:p>
            <a:r>
              <a:rPr lang="en-US" b="1" dirty="0"/>
              <a:t>Today's Revenue</a:t>
            </a:r>
            <a:r>
              <a:rPr lang="en-US" dirty="0"/>
              <a:t> — sum of all sales today</a:t>
            </a:r>
          </a:p>
          <a:p>
            <a:r>
              <a:rPr lang="en-US" b="1" dirty="0"/>
              <a:t>Prescriptions Processed Today</a:t>
            </a:r>
            <a:r>
              <a:rPr lang="en-US" dirty="0"/>
              <a:t> — count of prescriptions processed today</a:t>
            </a:r>
          </a:p>
          <a:p>
            <a:r>
              <a:rPr lang="en-US" b="1" dirty="0"/>
              <a:t>Low Stock Alert</a:t>
            </a:r>
            <a:r>
              <a:rPr lang="en-US" dirty="0"/>
              <a:t> — count of medicines with quantity below 20 units</a:t>
            </a:r>
          </a:p>
          <a:p>
            <a:r>
              <a:rPr lang="en-US" dirty="0"/>
              <a:t>Plus a </a:t>
            </a:r>
            <a:r>
              <a:rPr lang="en-US" b="1" dirty="0"/>
              <a:t>bar chart</a:t>
            </a:r>
            <a:r>
              <a:rPr lang="en-US" dirty="0"/>
              <a:t> showing revenue trend for the last 7 days using Chart.js.</a:t>
            </a:r>
          </a:p>
          <a:p>
            <a:endParaRPr lang="en-IN" dirty="0"/>
          </a:p>
        </p:txBody>
      </p:sp>
    </p:spTree>
    <p:extLst>
      <p:ext uri="{BB962C8B-B14F-4D97-AF65-F5344CB8AC3E}">
        <p14:creationId xmlns:p14="http://schemas.microsoft.com/office/powerpoint/2010/main" val="2486466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E1202-572C-48C0-0CF0-A8B04EFB393E}"/>
              </a:ext>
            </a:extLst>
          </p:cNvPr>
          <p:cNvSpPr>
            <a:spLocks noGrp="1"/>
          </p:cNvSpPr>
          <p:nvPr>
            <p:ph type="title"/>
          </p:nvPr>
        </p:nvSpPr>
        <p:spPr/>
        <p:txBody>
          <a:bodyPr>
            <a:normAutofit fontScale="90000"/>
          </a:bodyPr>
          <a:lstStyle/>
          <a:p>
            <a:r>
              <a:rPr lang="en-IN" dirty="0"/>
              <a:t>Security features</a:t>
            </a:r>
          </a:p>
        </p:txBody>
      </p:sp>
      <p:sp>
        <p:nvSpPr>
          <p:cNvPr id="4" name="Rectangle 1">
            <a:extLst>
              <a:ext uri="{FF2B5EF4-FFF2-40B4-BE49-F238E27FC236}">
                <a16:creationId xmlns:a16="http://schemas.microsoft.com/office/drawing/2014/main" id="{F7716ED8-363A-EAF0-5496-BCE8B713F4C8}"/>
              </a:ext>
            </a:extLst>
          </p:cNvPr>
          <p:cNvSpPr>
            <a:spLocks noGrp="1" noChangeArrowheads="1"/>
          </p:cNvSpPr>
          <p:nvPr>
            <p:ph type="body" idx="1"/>
          </p:nvPr>
        </p:nvSpPr>
        <p:spPr bwMode="auto">
          <a:xfrm>
            <a:off x="482685" y="1140589"/>
            <a:ext cx="842342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bcrypt</a:t>
            </a:r>
            <a:r>
              <a:rPr kumimoji="0" lang="en-US" altLang="en-US" sz="1800" b="0" i="0" u="none" strike="noStrike" cap="none" normalizeH="0" baseline="0" dirty="0">
                <a:ln>
                  <a:noFill/>
                </a:ln>
                <a:solidFill>
                  <a:schemeClr val="tx1"/>
                </a:solidFill>
                <a:effectLst/>
                <a:latin typeface="Arial" panose="020B0604020202020204" pitchFamily="34" charset="0"/>
              </a:rPr>
              <a:t> for password hashing — plain text passwords are never stored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JWT</a:t>
            </a:r>
            <a:r>
              <a:rPr kumimoji="0" lang="en-US" altLang="en-US" sz="1800" b="0" i="0" u="none" strike="noStrike" cap="none" normalizeH="0" baseline="0" dirty="0">
                <a:ln>
                  <a:noFill/>
                </a:ln>
                <a:solidFill>
                  <a:schemeClr val="tx1"/>
                </a:solidFill>
                <a:effectLst/>
                <a:latin typeface="Arial" panose="020B0604020202020204" pitchFamily="34" charset="0"/>
              </a:rPr>
              <a:t> for stateless authentication — no sessions, scales well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Helmet</a:t>
            </a:r>
            <a:r>
              <a:rPr kumimoji="0" lang="en-US" altLang="en-US" sz="1800" b="0" i="0" u="none" strike="noStrike" cap="none" normalizeH="0" baseline="0" dirty="0">
                <a:ln>
                  <a:noFill/>
                </a:ln>
                <a:solidFill>
                  <a:schemeClr val="tx1"/>
                </a:solidFill>
                <a:effectLst/>
                <a:latin typeface="Arial" panose="020B0604020202020204" pitchFamily="34" charset="0"/>
              </a:rPr>
              <a:t> — sets secure HTTP headers automatically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express-rate-limit</a:t>
            </a:r>
            <a:r>
              <a:rPr kumimoji="0" lang="en-US" altLang="en-US" sz="1800" b="0" i="0" u="none" strike="noStrike" cap="none" normalizeH="0" baseline="0" dirty="0">
                <a:ln>
                  <a:noFill/>
                </a:ln>
                <a:solidFill>
                  <a:schemeClr val="tx1"/>
                </a:solidFill>
                <a:effectLst/>
                <a:latin typeface="Arial" panose="020B0604020202020204" pitchFamily="34" charset="0"/>
              </a:rPr>
              <a:t> — 100 requests per 15 minutes per IP on all </a:t>
            </a:r>
            <a:r>
              <a:rPr kumimoji="0" lang="en-US" altLang="en-US" sz="1000"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err="1">
                <a:ln>
                  <a:noFill/>
                </a:ln>
                <a:solidFill>
                  <a:schemeClr val="tx1"/>
                </a:solidFill>
                <a:effectLst/>
                <a:latin typeface="+mj-lt"/>
              </a:rPr>
              <a:t>api</a:t>
            </a:r>
            <a:r>
              <a:rPr kumimoji="0" lang="en-US" altLang="en-US" b="0" i="0" u="none" strike="noStrike" cap="none" normalizeH="0" baseline="0" dirty="0">
                <a:ln>
                  <a:noFill/>
                </a:ln>
                <a:solidFill>
                  <a:schemeClr val="tx1"/>
                </a:solidFill>
                <a:effectLst/>
                <a:latin typeface="+mj-lt"/>
              </a:rPr>
              <a:t> routes, prevents abuse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CORS</a:t>
            </a:r>
            <a:r>
              <a:rPr kumimoji="0" lang="en-US" altLang="en-US" sz="1800" b="0" i="0" u="none" strike="noStrike" cap="none" normalizeH="0" baseline="0" dirty="0">
                <a:ln>
                  <a:noFill/>
                </a:ln>
                <a:solidFill>
                  <a:schemeClr val="tx1"/>
                </a:solidFill>
                <a:effectLst/>
                <a:latin typeface="Arial" panose="020B0604020202020204" pitchFamily="34" charset="0"/>
              </a:rPr>
              <a:t> — only allowed origins can call the API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express-validator</a:t>
            </a:r>
            <a:r>
              <a:rPr kumimoji="0" lang="en-US" altLang="en-US" sz="1800" b="0" i="0" u="none" strike="noStrike" cap="none" normalizeH="0" baseline="0" dirty="0">
                <a:ln>
                  <a:noFill/>
                </a:ln>
                <a:solidFill>
                  <a:schemeClr val="tx1"/>
                </a:solidFill>
                <a:effectLst/>
                <a:latin typeface="Arial" panose="020B0604020202020204" pitchFamily="34" charset="0"/>
              </a:rPr>
              <a:t> — input validation on auth routes, rejects malformed requests early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Role-based authorization</a:t>
            </a:r>
            <a:r>
              <a:rPr kumimoji="0" lang="en-US" altLang="en-US" sz="1800" b="0" i="0" u="none" strike="noStrike" cap="none" normalizeH="0" baseline="0" dirty="0">
                <a:ln>
                  <a:noFill/>
                </a:ln>
                <a:solidFill>
                  <a:schemeClr val="tx1"/>
                </a:solidFill>
                <a:effectLst/>
                <a:latin typeface="Arial" panose="020B0604020202020204" pitchFamily="34" charset="0"/>
              </a:rPr>
              <a:t> — middleware checks role on every sensitive endpoint, not just the UI </a:t>
            </a:r>
          </a:p>
        </p:txBody>
      </p:sp>
    </p:spTree>
    <p:extLst>
      <p:ext uri="{BB962C8B-B14F-4D97-AF65-F5344CB8AC3E}">
        <p14:creationId xmlns:p14="http://schemas.microsoft.com/office/powerpoint/2010/main" val="3062910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9. SUSTAINABLE DEVELOPMENT GOALS (SDG)</a:t>
            </a:r>
            <a:endParaRPr/>
          </a:p>
        </p:txBody>
      </p:sp>
      <p:sp>
        <p:nvSpPr>
          <p:cNvPr id="122" name="Google Shape;122;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b="1" dirty="0"/>
              <a:t>SDG 3: Good Health and Well-Being</a:t>
            </a:r>
            <a:endParaRPr lang="en-US" dirty="0"/>
          </a:p>
          <a:p>
            <a:pPr marL="114300" indent="0">
              <a:buNone/>
            </a:pPr>
            <a:r>
              <a:rPr lang="en-US" dirty="0"/>
              <a:t>• Improves accuracy in medicine dispensing through automated prescription processing.</a:t>
            </a:r>
            <a:br>
              <a:rPr lang="en-US" dirty="0"/>
            </a:br>
            <a:r>
              <a:rPr lang="en-US" dirty="0"/>
              <a:t>• Reduces medication errors caused by manual interpretation.</a:t>
            </a:r>
            <a:br>
              <a:rPr lang="en-US" dirty="0"/>
            </a:br>
            <a:r>
              <a:rPr lang="en-US" dirty="0"/>
              <a:t>• Ensures timely availability of essential medicines.</a:t>
            </a:r>
            <a:br>
              <a:rPr lang="en-US" dirty="0"/>
            </a:br>
            <a:r>
              <a:rPr lang="en-US" dirty="0"/>
              <a:t>• Minimizes risks from expired or near-expiry drugs.</a:t>
            </a:r>
            <a:br>
              <a:rPr lang="en-US" dirty="0"/>
            </a:br>
            <a:r>
              <a:rPr lang="en-US" dirty="0"/>
              <a:t>• Enhances pharmacist decision-making using analytics.</a:t>
            </a:r>
            <a:br>
              <a:rPr lang="en-US" dirty="0"/>
            </a:br>
            <a:r>
              <a:rPr lang="en-US" dirty="0"/>
              <a:t>• Supports faster and safer patient service delivery.</a:t>
            </a:r>
            <a:br>
              <a:rPr lang="en-US" dirty="0"/>
            </a:br>
            <a:r>
              <a:rPr lang="en-US" dirty="0"/>
              <a:t>• Promotes reliable access to healthcare services.</a:t>
            </a:r>
            <a:br>
              <a:rPr lang="en-US" dirty="0"/>
            </a:br>
            <a:r>
              <a:rPr lang="en-US" dirty="0"/>
              <a:t>• Strengthens overall public health outcomes through digital innovation.</a:t>
            </a:r>
          </a:p>
          <a:p>
            <a:pPr marL="0" lvl="0" indent="0" algn="l" rtl="0">
              <a:spcBef>
                <a:spcPts val="1200"/>
              </a:spcBef>
              <a:spcAft>
                <a:spcPts val="1200"/>
              </a:spcAft>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11. RESULTS AND DISCUSSION</a:t>
            </a:r>
            <a:endParaRPr/>
          </a:p>
        </p:txBody>
      </p:sp>
      <p:sp>
        <p:nvSpPr>
          <p:cNvPr id="128" name="Google Shape;128;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dirty="0"/>
              <a:t>• The system successfully automates prescription processing using OCR and AI, significantly reducing manual intervention and minimizing errors in medicine identification and dispensing compared to traditional pharmacy workflows.</a:t>
            </a:r>
          </a:p>
          <a:p>
            <a:pPr marL="114300" indent="0">
              <a:buNone/>
            </a:pPr>
            <a:r>
              <a:rPr lang="en-US" dirty="0"/>
              <a:t>• Real-time inventory management combined with machine learning–based demand forecasting improves stock accuracy, reduces medicine shortages, and minimizes wastage caused by overstocking or expiry.</a:t>
            </a:r>
          </a:p>
          <a:p>
            <a:pPr marL="114300" indent="0">
              <a:buNone/>
            </a:pPr>
            <a:r>
              <a:rPr lang="en-US" dirty="0"/>
              <a:t>• The integrated </a:t>
            </a:r>
            <a:r>
              <a:rPr lang="en-US" dirty="0" err="1"/>
              <a:t>chatbot</a:t>
            </a:r>
            <a:r>
              <a:rPr lang="en-US" dirty="0"/>
              <a:t> and analytics dashboard enhance customer interaction and support pharmacists in data-driven decision-making, leading to improved operational efficiency and overall service quality.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title"/>
          </p:nvPr>
        </p:nvSpPr>
        <p:spPr>
          <a:xfrm>
            <a:off x="311700" y="1830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12. TIMELINE</a:t>
            </a:r>
            <a:endParaRPr/>
          </a:p>
        </p:txBody>
      </p:sp>
      <p:graphicFrame>
        <p:nvGraphicFramePr>
          <p:cNvPr id="134" name="Google Shape;134;p26"/>
          <p:cNvGraphicFramePr/>
          <p:nvPr/>
        </p:nvGraphicFramePr>
        <p:xfrm>
          <a:off x="166351" y="814375"/>
          <a:ext cx="9882925" cy="5303280"/>
        </p:xfrm>
        <a:graphic>
          <a:graphicData uri="http://schemas.openxmlformats.org/drawingml/2006/table">
            <a:tbl>
              <a:tblPr>
                <a:noFill/>
                <a:tableStyleId>{4218EEE0-5D37-4C49-A4E7-7812C484D504}</a:tableStyleId>
              </a:tblPr>
              <a:tblGrid>
                <a:gridCol w="935125">
                  <a:extLst>
                    <a:ext uri="{9D8B030D-6E8A-4147-A177-3AD203B41FA5}">
                      <a16:colId xmlns:a16="http://schemas.microsoft.com/office/drawing/2014/main" val="20000"/>
                    </a:ext>
                  </a:extLst>
                </a:gridCol>
                <a:gridCol w="745650">
                  <a:extLst>
                    <a:ext uri="{9D8B030D-6E8A-4147-A177-3AD203B41FA5}">
                      <a16:colId xmlns:a16="http://schemas.microsoft.com/office/drawing/2014/main" val="20001"/>
                    </a:ext>
                  </a:extLst>
                </a:gridCol>
                <a:gridCol w="745650">
                  <a:extLst>
                    <a:ext uri="{9D8B030D-6E8A-4147-A177-3AD203B41FA5}">
                      <a16:colId xmlns:a16="http://schemas.microsoft.com/office/drawing/2014/main" val="20002"/>
                    </a:ext>
                  </a:extLst>
                </a:gridCol>
                <a:gridCol w="745650">
                  <a:extLst>
                    <a:ext uri="{9D8B030D-6E8A-4147-A177-3AD203B41FA5}">
                      <a16:colId xmlns:a16="http://schemas.microsoft.com/office/drawing/2014/main" val="20003"/>
                    </a:ext>
                  </a:extLst>
                </a:gridCol>
                <a:gridCol w="745650">
                  <a:extLst>
                    <a:ext uri="{9D8B030D-6E8A-4147-A177-3AD203B41FA5}">
                      <a16:colId xmlns:a16="http://schemas.microsoft.com/office/drawing/2014/main" val="20004"/>
                    </a:ext>
                  </a:extLst>
                </a:gridCol>
                <a:gridCol w="745650">
                  <a:extLst>
                    <a:ext uri="{9D8B030D-6E8A-4147-A177-3AD203B41FA5}">
                      <a16:colId xmlns:a16="http://schemas.microsoft.com/office/drawing/2014/main" val="20005"/>
                    </a:ext>
                  </a:extLst>
                </a:gridCol>
                <a:gridCol w="745650">
                  <a:extLst>
                    <a:ext uri="{9D8B030D-6E8A-4147-A177-3AD203B41FA5}">
                      <a16:colId xmlns:a16="http://schemas.microsoft.com/office/drawing/2014/main" val="20006"/>
                    </a:ext>
                  </a:extLst>
                </a:gridCol>
                <a:gridCol w="745650">
                  <a:extLst>
                    <a:ext uri="{9D8B030D-6E8A-4147-A177-3AD203B41FA5}">
                      <a16:colId xmlns:a16="http://schemas.microsoft.com/office/drawing/2014/main" val="20007"/>
                    </a:ext>
                  </a:extLst>
                </a:gridCol>
                <a:gridCol w="745650">
                  <a:extLst>
                    <a:ext uri="{9D8B030D-6E8A-4147-A177-3AD203B41FA5}">
                      <a16:colId xmlns:a16="http://schemas.microsoft.com/office/drawing/2014/main" val="20008"/>
                    </a:ext>
                  </a:extLst>
                </a:gridCol>
                <a:gridCol w="745650">
                  <a:extLst>
                    <a:ext uri="{9D8B030D-6E8A-4147-A177-3AD203B41FA5}">
                      <a16:colId xmlns:a16="http://schemas.microsoft.com/office/drawing/2014/main" val="20009"/>
                    </a:ext>
                  </a:extLst>
                </a:gridCol>
                <a:gridCol w="745650">
                  <a:extLst>
                    <a:ext uri="{9D8B030D-6E8A-4147-A177-3AD203B41FA5}">
                      <a16:colId xmlns:a16="http://schemas.microsoft.com/office/drawing/2014/main" val="20010"/>
                    </a:ext>
                  </a:extLst>
                </a:gridCol>
                <a:gridCol w="745650">
                  <a:extLst>
                    <a:ext uri="{9D8B030D-6E8A-4147-A177-3AD203B41FA5}">
                      <a16:colId xmlns:a16="http://schemas.microsoft.com/office/drawing/2014/main" val="20011"/>
                    </a:ext>
                  </a:extLst>
                </a:gridCol>
                <a:gridCol w="745650">
                  <a:extLst>
                    <a:ext uri="{9D8B030D-6E8A-4147-A177-3AD203B41FA5}">
                      <a16:colId xmlns:a16="http://schemas.microsoft.com/office/drawing/2014/main" val="20012"/>
                    </a:ext>
                  </a:extLst>
                </a:gridCol>
              </a:tblGrid>
              <a:tr h="351725">
                <a:tc>
                  <a:txBody>
                    <a:bodyPr/>
                    <a:lstStyle/>
                    <a:p>
                      <a:pPr marL="0" marR="0" lvl="0" indent="0" algn="l" rtl="0">
                        <a:lnSpc>
                          <a:spcPct val="100000"/>
                        </a:lnSpc>
                        <a:spcBef>
                          <a:spcPts val="0"/>
                        </a:spcBef>
                        <a:spcAft>
                          <a:spcPts val="0"/>
                        </a:spcAft>
                        <a:buClr>
                          <a:srgbClr val="000000"/>
                        </a:buClr>
                        <a:buSzPts val="1300"/>
                        <a:buFont typeface="Arial"/>
                        <a:buNone/>
                      </a:pPr>
                      <a:r>
                        <a:rPr lang="en" i="0" u="none" strike="noStrike" cap="none">
                          <a:solidFill>
                            <a:srgbClr val="000000"/>
                          </a:solidFill>
                          <a:latin typeface="Times New Roman"/>
                          <a:ea typeface="Times New Roman"/>
                          <a:cs typeface="Times New Roman"/>
                          <a:sym typeface="Times New Roman"/>
                        </a:rPr>
                        <a:t>Week</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1</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2</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3</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4</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5</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6</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7</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8</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9</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10</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11</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12</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41125">
                <a:tc>
                  <a:txBody>
                    <a:bodyPr/>
                    <a:lstStyle/>
                    <a:p>
                      <a:pPr marL="0" marR="0" lvl="0" indent="0" algn="l" rtl="0">
                        <a:lnSpc>
                          <a:spcPct val="100000"/>
                        </a:lnSpc>
                        <a:spcBef>
                          <a:spcPts val="0"/>
                        </a:spcBef>
                        <a:spcAft>
                          <a:spcPts val="0"/>
                        </a:spcAft>
                        <a:buClr>
                          <a:srgbClr val="000000"/>
                        </a:buClr>
                        <a:buSzPts val="1300"/>
                        <a:buFont typeface="Arial"/>
                        <a:buNone/>
                      </a:pPr>
                      <a:r>
                        <a:rPr lang="en" i="0" u="none" strike="noStrike" cap="none">
                          <a:solidFill>
                            <a:srgbClr val="000000"/>
                          </a:solidFill>
                          <a:latin typeface="Times New Roman"/>
                          <a:ea typeface="Times New Roman"/>
                          <a:cs typeface="Times New Roman"/>
                          <a:sym typeface="Times New Roman"/>
                        </a:rPr>
                        <a:t>Major Activities</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41125">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Literature review </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41125">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Frontend setup</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30550">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Backend API’s building</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09350">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Integration of </a:t>
                      </a:r>
                      <a:r>
                        <a:rPr lang="en" u="none" strike="noStrike" cap="none">
                          <a:solidFill>
                            <a:srgbClr val="000000"/>
                          </a:solidFill>
                          <a:latin typeface="Times New Roman"/>
                          <a:ea typeface="Times New Roman"/>
                          <a:cs typeface="Times New Roman"/>
                          <a:sym typeface="Times New Roman"/>
                        </a:rPr>
                        <a:t>frontend &amp;</a:t>
                      </a:r>
                      <a:r>
                        <a:rPr lang="en" i="0" u="none" strike="noStrike" cap="none">
                          <a:solidFill>
                            <a:srgbClr val="000000"/>
                          </a:solidFill>
                          <a:latin typeface="Times New Roman"/>
                          <a:ea typeface="Times New Roman"/>
                          <a:cs typeface="Times New Roman"/>
                          <a:sym typeface="Times New Roman"/>
                        </a:rPr>
                        <a:t> backend</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51725">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Testing</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extLst>
                  <a:ext uri="{0D108BD9-81ED-4DB2-BD59-A6C34878D82A}">
                    <a16:rowId xmlns:a16="http://schemas.microsoft.com/office/drawing/2014/main" val="10006"/>
                  </a:ext>
                </a:extLst>
              </a:tr>
              <a:tr h="541125">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Documents</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13. CONCLUSION</a:t>
            </a:r>
            <a:endParaRPr/>
          </a:p>
        </p:txBody>
      </p:sp>
      <p:sp>
        <p:nvSpPr>
          <p:cNvPr id="140" name="Google Shape;140;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dirty="0"/>
              <a:t>• The Digital Pharmacy Management System effectively automates prescription processing and inventory management using OCR and AI technologies, reducing manual errors and improving operational accuracy.</a:t>
            </a:r>
          </a:p>
          <a:p>
            <a:pPr marL="114300" indent="0">
              <a:buNone/>
            </a:pPr>
            <a:r>
              <a:rPr lang="en-US" dirty="0"/>
              <a:t>• Integration of machine learning–based demand forecasting and real-time stock monitoring ensures better inventory control, minimizes medicine shortages, and reduces wastage.</a:t>
            </a:r>
          </a:p>
          <a:p>
            <a:pPr marL="114300" indent="0">
              <a:buNone/>
            </a:pPr>
            <a:r>
              <a:rPr lang="en-US" dirty="0"/>
              <a:t>• The proposed system enhances pharmacy efficiency, supports informed decision-making, and contributes to safer, faster, and more reliable healthcare service delivery.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14. REFERENCES</a:t>
            </a:r>
            <a:endParaRPr/>
          </a:p>
        </p:txBody>
      </p:sp>
      <p:sp>
        <p:nvSpPr>
          <p:cNvPr id="146" name="Google Shape;146;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a:buFont typeface="+mj-lt"/>
              <a:buAutoNum type="arabicPeriod"/>
            </a:pPr>
            <a:r>
              <a:rPr lang="en-US" dirty="0"/>
              <a:t>O. </a:t>
            </a:r>
            <a:r>
              <a:rPr lang="en-US" dirty="0" err="1"/>
              <a:t>Nishane</a:t>
            </a:r>
            <a:r>
              <a:rPr lang="en-US" dirty="0"/>
              <a:t> and V. </a:t>
            </a:r>
            <a:r>
              <a:rPr lang="en-US" dirty="0" err="1"/>
              <a:t>Ajankar</a:t>
            </a:r>
            <a:r>
              <a:rPr lang="en-US" dirty="0"/>
              <a:t>, “Pharmacy Management System using Artificial Intelligence,” in </a:t>
            </a:r>
            <a:r>
              <a:rPr lang="en-US" i="1" dirty="0"/>
              <a:t>Proc. 2025 Int. Conf. on Machine Learning and Autonomous Systems (ICMLAS)</a:t>
            </a:r>
            <a:r>
              <a:rPr lang="en-US" dirty="0"/>
              <a:t>, IEEE, Mar. 2025, pp. 1266–1271.</a:t>
            </a:r>
          </a:p>
          <a:p>
            <a:pPr>
              <a:buFont typeface="+mj-lt"/>
              <a:buAutoNum type="arabicPeriod"/>
            </a:pPr>
            <a:r>
              <a:rPr lang="en-US" dirty="0"/>
              <a:t>A. </a:t>
            </a:r>
            <a:r>
              <a:rPr lang="en-US" dirty="0" err="1"/>
              <a:t>Ogundipe</a:t>
            </a:r>
            <a:r>
              <a:rPr lang="en-US" dirty="0"/>
              <a:t>, T. F. </a:t>
            </a:r>
            <a:r>
              <a:rPr lang="en-US" dirty="0" err="1"/>
              <a:t>Sim</a:t>
            </a:r>
            <a:r>
              <a:rPr lang="en-US" dirty="0"/>
              <a:t>, and L. </a:t>
            </a:r>
            <a:r>
              <a:rPr lang="en-US" dirty="0" err="1"/>
              <a:t>Emmerton</a:t>
            </a:r>
            <a:r>
              <a:rPr lang="en-US" dirty="0"/>
              <a:t>, “Prescription for digital evolution: Transformative recommendations for pharmacy practice in the digital age,” </a:t>
            </a:r>
            <a:r>
              <a:rPr lang="en-US" i="1" dirty="0"/>
              <a:t>Journal of Pharmacy Practice</a:t>
            </a:r>
            <a:r>
              <a:rPr lang="en-US" dirty="0"/>
              <a:t>, vol. 38, no. 2, pp. 237–248, 2025.</a:t>
            </a:r>
          </a:p>
          <a:p>
            <a:pPr>
              <a:buFont typeface="+mj-lt"/>
              <a:buAutoNum type="arabicPeriod"/>
            </a:pPr>
            <a:r>
              <a:rPr lang="en-US" dirty="0"/>
              <a:t>C. </a:t>
            </a:r>
            <a:r>
              <a:rPr lang="en-US" dirty="0" err="1"/>
              <a:t>Backes</a:t>
            </a:r>
            <a:r>
              <a:rPr lang="en-US" dirty="0"/>
              <a:t> </a:t>
            </a:r>
            <a:r>
              <a:rPr lang="en-US" i="1" dirty="0"/>
              <a:t>et al.</a:t>
            </a:r>
            <a:r>
              <a:rPr lang="en-US" dirty="0"/>
              <a:t>, “Digital healthcare services in community pharmacies in Switzerland: Pharmacist and patient acceptability, and pharmacist readiness – The </a:t>
            </a:r>
            <a:r>
              <a:rPr lang="en-US" dirty="0" err="1"/>
              <a:t>Pneumoscope</a:t>
            </a:r>
            <a:r>
              <a:rPr lang="en-US" dirty="0"/>
              <a:t>™ pilot study,” </a:t>
            </a:r>
            <a:r>
              <a:rPr lang="en-US" i="1" dirty="0"/>
              <a:t>Digital Health</a:t>
            </a:r>
            <a:r>
              <a:rPr lang="en-US" dirty="0"/>
              <a:t>, vol. 11, 2025.</a:t>
            </a:r>
          </a:p>
          <a:p>
            <a:pPr>
              <a:buFont typeface="+mj-lt"/>
              <a:buAutoNum type="arabicPeriod"/>
            </a:pPr>
            <a:r>
              <a:rPr lang="en-US" dirty="0"/>
              <a:t>R. </a:t>
            </a:r>
            <a:r>
              <a:rPr lang="en-US" dirty="0" err="1"/>
              <a:t>Karvannan</a:t>
            </a:r>
            <a:r>
              <a:rPr lang="en-US" dirty="0"/>
              <a:t>, “Architecting DSCSA-compliant systems for real-time inventory management in high-volume retail pharmacy networks,” </a:t>
            </a:r>
            <a:r>
              <a:rPr lang="en-US" i="1" dirty="0"/>
              <a:t>Int. J. of Research Publications in Engineering, Technology and Management</a:t>
            </a:r>
            <a:r>
              <a:rPr lang="en-US" dirty="0"/>
              <a:t>, vol. 8, no. 2, pp. 11772–11777, 2025.</a:t>
            </a:r>
          </a:p>
          <a:p>
            <a:pPr>
              <a:buFont typeface="+mj-lt"/>
              <a:buAutoNum type="arabicPeriod"/>
            </a:pPr>
            <a:r>
              <a:rPr lang="en-US" dirty="0"/>
              <a:t>H. </a:t>
            </a:r>
            <a:r>
              <a:rPr lang="en-US" dirty="0" err="1"/>
              <a:t>Kurniawan</a:t>
            </a:r>
            <a:r>
              <a:rPr lang="en-US" dirty="0"/>
              <a:t>, L. B. </a:t>
            </a:r>
            <a:r>
              <a:rPr lang="en-US" dirty="0" err="1"/>
              <a:t>Handoko</a:t>
            </a:r>
            <a:r>
              <a:rPr lang="en-US" dirty="0"/>
              <a:t>, and V. Aldo, “The implementation of AWS cloud technology to enhance the performance and security of the pharmacy cashier management system,” </a:t>
            </a:r>
            <a:r>
              <a:rPr lang="en-US" i="1" dirty="0"/>
              <a:t>INOVTEK </a:t>
            </a:r>
            <a:r>
              <a:rPr lang="en-US" i="1" dirty="0" err="1"/>
              <a:t>Polbeng</a:t>
            </a:r>
            <a:r>
              <a:rPr lang="en-US" i="1" dirty="0"/>
              <a:t> – Seri </a:t>
            </a:r>
            <a:r>
              <a:rPr lang="en-US" i="1" dirty="0" err="1"/>
              <a:t>Informatika</a:t>
            </a:r>
            <a:r>
              <a:rPr lang="en-US" dirty="0"/>
              <a:t>, vol. 10, no. 1, pp. 73–86, 2025.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2743200" lvl="0" indent="342900" algn="l" rtl="0">
              <a:lnSpc>
                <a:spcPct val="90000"/>
              </a:lnSpc>
              <a:spcBef>
                <a:spcPts val="0"/>
              </a:spcBef>
              <a:spcAft>
                <a:spcPts val="0"/>
              </a:spcAft>
              <a:buClr>
                <a:schemeClr val="dk1"/>
              </a:buClr>
              <a:buSzPts val="3300"/>
              <a:buFont typeface="Calibri"/>
              <a:buNone/>
            </a:pPr>
            <a:r>
              <a:rPr lang="en">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pic>
        <p:nvPicPr>
          <p:cNvPr id="152" name="Google Shape;152;p29"/>
          <p:cNvPicPr preferRelativeResize="0"/>
          <p:nvPr/>
        </p:nvPicPr>
        <p:blipFill rotWithShape="1">
          <a:blip r:embed="rId3">
            <a:alphaModFix/>
          </a:blip>
          <a:srcRect/>
          <a:stretch/>
        </p:blipFill>
        <p:spPr>
          <a:xfrm>
            <a:off x="7043738" y="142875"/>
            <a:ext cx="1914525" cy="1057275"/>
          </a:xfrm>
          <a:prstGeom prst="rect">
            <a:avLst/>
          </a:prstGeom>
          <a:noFill/>
          <a:ln>
            <a:noFill/>
          </a:ln>
        </p:spPr>
      </p:pic>
      <p:sp>
        <p:nvSpPr>
          <p:cNvPr id="153" name="Google Shape;153;p29"/>
          <p:cNvSpPr txBox="1">
            <a:spLocks noGrp="1"/>
          </p:cNvSpPr>
          <p:nvPr>
            <p:ph type="body" idx="1"/>
          </p:nvPr>
        </p:nvSpPr>
        <p:spPr>
          <a:xfrm>
            <a:off x="601650" y="876417"/>
            <a:ext cx="7940700" cy="3706112"/>
          </a:xfrm>
          <a:prstGeom prst="rect">
            <a:avLst/>
          </a:prstGeom>
          <a:noFill/>
          <a:ln>
            <a:noFill/>
          </a:ln>
        </p:spPr>
        <p:txBody>
          <a:bodyPr spcFirstLastPara="1" wrap="square" lIns="68575" tIns="34275" rIns="68575" bIns="34275" anchor="ctr" anchorCtr="0">
            <a:spAutoFit/>
          </a:bodyPr>
          <a:lstStyle/>
          <a:p>
            <a:pPr marL="482600" indent="-342900">
              <a:buFont typeface="+mj-lt"/>
              <a:buAutoNum type="arabicPeriod" startAt="6"/>
            </a:pPr>
            <a:r>
              <a:rPr lang="en-US" sz="1400" dirty="0"/>
              <a:t>Q. Pan, Y. Liu, and S. Wei, “A semi-supervised learning approach to classify drug attributes in a pharmacy management database: A STROBE-compliant study,” </a:t>
            </a:r>
            <a:r>
              <a:rPr lang="en-US" sz="1400" i="1" dirty="0"/>
              <a:t>Medicine</a:t>
            </a:r>
            <a:r>
              <a:rPr lang="en-US" sz="1400" dirty="0"/>
              <a:t>, vol. 104, no. 10, e41601, 2025.</a:t>
            </a:r>
          </a:p>
          <a:p>
            <a:pPr marL="482600" indent="-342900">
              <a:buFont typeface="+mj-lt"/>
              <a:buAutoNum type="arabicPeriod" startAt="6"/>
            </a:pPr>
            <a:r>
              <a:rPr lang="en-US" sz="1400" dirty="0"/>
              <a:t>R. </a:t>
            </a:r>
            <a:r>
              <a:rPr lang="en-US" sz="1400" dirty="0" err="1"/>
              <a:t>Karvannan</a:t>
            </a:r>
            <a:r>
              <a:rPr lang="en-US" sz="1400" dirty="0"/>
              <a:t>, “Scalable cloud architecture for synchronizing pharmacy inventory between central and local systems,” </a:t>
            </a:r>
            <a:r>
              <a:rPr lang="en-US" sz="1400" i="1" dirty="0"/>
              <a:t>Int. J. of Research Publications in Engineering, Technology and Management</a:t>
            </a:r>
            <a:r>
              <a:rPr lang="en-US" sz="1400" dirty="0"/>
              <a:t>, vol. 8, no. 1, pp. 11810–11815, 2025.</a:t>
            </a:r>
          </a:p>
          <a:p>
            <a:pPr marL="482600" indent="-342900">
              <a:buFont typeface="+mj-lt"/>
              <a:buAutoNum type="arabicPeriod" startAt="6"/>
            </a:pPr>
            <a:r>
              <a:rPr lang="en-US" sz="1400" dirty="0"/>
              <a:t>S. </a:t>
            </a:r>
            <a:r>
              <a:rPr lang="en-US" sz="1400" dirty="0" err="1"/>
              <a:t>Abasa</a:t>
            </a:r>
            <a:r>
              <a:rPr lang="en-US" sz="1400" dirty="0"/>
              <a:t>, F. Aziz, P. </a:t>
            </a:r>
            <a:r>
              <a:rPr lang="en-US" sz="1400" dirty="0" err="1"/>
              <a:t>Ishak</a:t>
            </a:r>
            <a:r>
              <a:rPr lang="en-US" sz="1400" dirty="0"/>
              <a:t>, and J. Jeffry, “Detection of persistent </a:t>
            </a:r>
            <a:r>
              <a:rPr lang="en-US" sz="1400" dirty="0" err="1"/>
              <a:t>vs</a:t>
            </a:r>
            <a:r>
              <a:rPr lang="en-US" sz="1400" dirty="0"/>
              <a:t> non-persistent medications in pharmacy using artificial intelligence,” </a:t>
            </a:r>
            <a:r>
              <a:rPr lang="en-US" sz="1400" i="1" dirty="0"/>
              <a:t>Journal of System and Computer Engineering</a:t>
            </a:r>
            <a:r>
              <a:rPr lang="en-US" sz="1400" dirty="0"/>
              <a:t>, vol. 6, no. 1, pp. 137–143, 2025.</a:t>
            </a:r>
          </a:p>
          <a:p>
            <a:pPr marL="482600" indent="-342900">
              <a:buFont typeface="+mj-lt"/>
              <a:buAutoNum type="arabicPeriod" startAt="6"/>
            </a:pPr>
            <a:r>
              <a:rPr lang="en-US" sz="1400" dirty="0"/>
              <a:t>A. Christy, F. Fernanda, W. N. </a:t>
            </a:r>
            <a:r>
              <a:rPr lang="en-US" sz="1400" dirty="0" err="1"/>
              <a:t>Insani</a:t>
            </a:r>
            <a:r>
              <a:rPr lang="en-US" sz="1400" dirty="0"/>
              <a:t>, and R. </a:t>
            </a:r>
            <a:r>
              <a:rPr lang="en-US" sz="1400" dirty="0" err="1"/>
              <a:t>Abdulah</a:t>
            </a:r>
            <a:r>
              <a:rPr lang="en-US" sz="1400" dirty="0"/>
              <a:t>, “Pharmacist-led digital health interventions for patients with diabetes: A systematic review,” </a:t>
            </a:r>
            <a:r>
              <a:rPr lang="en-US" sz="1400" i="1" dirty="0"/>
              <a:t>Journal of Multidisciplinary Healthcare</a:t>
            </a:r>
            <a:r>
              <a:rPr lang="en-US" sz="1400" dirty="0"/>
              <a:t>, pp. 101–112, 2025.</a:t>
            </a:r>
          </a:p>
          <a:p>
            <a:pPr marL="482600" indent="-342900">
              <a:buFont typeface="+mj-lt"/>
              <a:buAutoNum type="arabicPeriod" startAt="6"/>
            </a:pPr>
            <a:r>
              <a:rPr lang="en-US" sz="1400" dirty="0"/>
              <a:t>O. </a:t>
            </a:r>
            <a:r>
              <a:rPr lang="en-US" sz="1400" dirty="0" err="1"/>
              <a:t>Lawal</a:t>
            </a:r>
            <a:r>
              <a:rPr lang="en-US" sz="1400" dirty="0"/>
              <a:t> </a:t>
            </a:r>
            <a:r>
              <a:rPr lang="en-US" sz="1400" i="1" dirty="0"/>
              <a:t>et al.</a:t>
            </a:r>
            <a:r>
              <a:rPr lang="en-US" sz="1400" dirty="0"/>
              <a:t>, “A review on usage of digital health literacy to combat antibiotic misuse and misinformation in Nigeria,” </a:t>
            </a:r>
            <a:r>
              <a:rPr lang="en-US" sz="1400" i="1" dirty="0"/>
              <a:t>Journal of </a:t>
            </a:r>
            <a:r>
              <a:rPr lang="en-US" sz="1400" i="1" dirty="0" err="1"/>
              <a:t>Pharma</a:t>
            </a:r>
            <a:r>
              <a:rPr lang="en-US" sz="1400" i="1" dirty="0"/>
              <a:t> Insights and Research</a:t>
            </a:r>
            <a:r>
              <a:rPr lang="en-US" sz="1400" dirty="0"/>
              <a:t>, vol. 3, no. 2, pp. 258–269, 2025.</a:t>
            </a:r>
          </a:p>
          <a:p>
            <a:pPr marL="0" lvl="0" indent="0" algn="l" rtl="0">
              <a:lnSpc>
                <a:spcPct val="100000"/>
              </a:lnSpc>
              <a:spcBef>
                <a:spcPts val="0"/>
              </a:spcBef>
              <a:spcAft>
                <a:spcPts val="0"/>
              </a:spcAft>
              <a:buNone/>
            </a:pPr>
            <a:endParaRPr sz="1400" dirty="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10. IMPLEMENTATION &amp; RESULT IMAGES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78876A4E-F677-633D-5B2D-95CA359F6549}"/>
            </a:ext>
          </a:extLst>
        </p:cNvPr>
        <p:cNvGrpSpPr/>
        <p:nvPr/>
      </p:nvGrpSpPr>
      <p:grpSpPr>
        <a:xfrm>
          <a:off x="0" y="0"/>
          <a:ext cx="0" cy="0"/>
          <a:chOff x="0" y="0"/>
          <a:chExt cx="0" cy="0"/>
        </a:xfrm>
      </p:grpSpPr>
      <p:sp>
        <p:nvSpPr>
          <p:cNvPr id="158" name="Google Shape;158;p30">
            <a:extLst>
              <a:ext uri="{FF2B5EF4-FFF2-40B4-BE49-F238E27FC236}">
                <a16:creationId xmlns:a16="http://schemas.microsoft.com/office/drawing/2014/main" id="{1E5C7F5F-B6C9-C500-F224-568008A53D47}"/>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10. IMPLEMENTATION &amp; RESULT IMAGES</a:t>
            </a:r>
            <a:endParaRPr/>
          </a:p>
        </p:txBody>
      </p:sp>
    </p:spTree>
    <p:extLst>
      <p:ext uri="{BB962C8B-B14F-4D97-AF65-F5344CB8AC3E}">
        <p14:creationId xmlns:p14="http://schemas.microsoft.com/office/powerpoint/2010/main" val="422078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4999279D-96B0-190A-5A18-A1280C74CBBD}"/>
            </a:ext>
          </a:extLst>
        </p:cNvPr>
        <p:cNvGrpSpPr/>
        <p:nvPr/>
      </p:nvGrpSpPr>
      <p:grpSpPr>
        <a:xfrm>
          <a:off x="0" y="0"/>
          <a:ext cx="0" cy="0"/>
          <a:chOff x="0" y="0"/>
          <a:chExt cx="0" cy="0"/>
        </a:xfrm>
      </p:grpSpPr>
      <p:sp>
        <p:nvSpPr>
          <p:cNvPr id="158" name="Google Shape;158;p30">
            <a:extLst>
              <a:ext uri="{FF2B5EF4-FFF2-40B4-BE49-F238E27FC236}">
                <a16:creationId xmlns:a16="http://schemas.microsoft.com/office/drawing/2014/main" id="{F0691657-3401-1399-5A19-480F11B6877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10. IMPLEMENTATION &amp; RESULT IMAGES</a:t>
            </a:r>
            <a:endParaRPr/>
          </a:p>
        </p:txBody>
      </p:sp>
    </p:spTree>
    <p:extLst>
      <p:ext uri="{BB962C8B-B14F-4D97-AF65-F5344CB8AC3E}">
        <p14:creationId xmlns:p14="http://schemas.microsoft.com/office/powerpoint/2010/main" val="260057303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TotalTime>
  <Words>2531</Words>
  <Application>Microsoft Office PowerPoint</Application>
  <PresentationFormat>On-screen Show (16:9)</PresentationFormat>
  <Paragraphs>191</Paragraphs>
  <Slides>28</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Arial Unicode MS</vt:lpstr>
      <vt:lpstr>Calibri</vt:lpstr>
      <vt:lpstr>Times New Roman</vt:lpstr>
      <vt:lpstr>Simple Light</vt:lpstr>
      <vt:lpstr>A Cognitive Vision-Enabled Pharmaceutical Intelligence Framework for Multimodal Prescription Analysis  </vt:lpstr>
      <vt:lpstr>1. INTRODUCTION</vt:lpstr>
      <vt:lpstr>2. MOTIVATION</vt:lpstr>
      <vt:lpstr>3. CONCERNS IDENTIFIED FROM BASE PAPERS</vt:lpstr>
      <vt:lpstr>LITERATURE REVIEW</vt:lpstr>
      <vt:lpstr>LITERATURE REVIEW</vt:lpstr>
      <vt:lpstr>5. IDEA FORMULATION FROM LITERATURE REVIEW</vt:lpstr>
      <vt:lpstr>6. ABSTRACT</vt:lpstr>
      <vt:lpstr>FLOWCHART</vt:lpstr>
      <vt:lpstr>SYSTEM ARCHITECTURE</vt:lpstr>
      <vt:lpstr>PowerPoint Presentation</vt:lpstr>
      <vt:lpstr>Database — 4 Tables </vt:lpstr>
      <vt:lpstr>Features 1. Authentication  </vt:lpstr>
      <vt:lpstr>2. Inventory Management </vt:lpstr>
      <vt:lpstr>3. Sales &amp; Billing </vt:lpstr>
      <vt:lpstr>4. AI Prescription Processing </vt:lpstr>
      <vt:lpstr>5. AI Chat Assistant </vt:lpstr>
      <vt:lpstr>6. Dashboard </vt:lpstr>
      <vt:lpstr>Security features</vt:lpstr>
      <vt:lpstr>9. SUSTAINABLE DEVELOPMENT GOALS (SDG)</vt:lpstr>
      <vt:lpstr>11. RESULTS AND DISCUSSION</vt:lpstr>
      <vt:lpstr>12. TIMELINE</vt:lpstr>
      <vt:lpstr>13. CONCLUSION</vt:lpstr>
      <vt:lpstr>14. REFERENCES</vt:lpstr>
      <vt:lpstr>References</vt:lpstr>
      <vt:lpstr>10. IMPLEMENTATION &amp; RESULT IMAGES</vt:lpstr>
      <vt:lpstr>10. IMPLEMENTATION &amp; RESULT IMAGES</vt:lpstr>
      <vt:lpstr>10. IMPLEMENTATION &amp; RESULT IMAGES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Web Application for Automated Vitiligo Detection from Skin Images</dc:title>
  <dc:creator>WELCOME</dc:creator>
  <cp:lastModifiedBy>JEBIN J P</cp:lastModifiedBy>
  <cp:revision>5</cp:revision>
  <dcterms:modified xsi:type="dcterms:W3CDTF">2026-03-07T01:57:24Z</dcterms:modified>
</cp:coreProperties>
</file>